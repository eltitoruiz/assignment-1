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1F2A44"/>
                </a:solidFill>
              </a:defRPr>
            </a:pPr>
            <a:r>
              <a:t>Tabular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SARSA &amp; Q-learning on the class gridworld, plus comparison of 6 algorithms, Cliff Walking, Optuna tuning and training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55E00"/>
                </a:solidFill>
              </a:defRPr>
            </a:pPr>
            <a:r>
              <a:t>Igor Ruiz &amp; Andoni Garrido · Reinforcement Learning · Universidad de Deusto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Same environment as in class (3x4 gridworld), plus a second one (Cliff Walking)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45176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Gridworld 3x4: +1 goal, −1 pit, wall; deterministic and slippery (80% intended, 10%/10% sideways)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Cliff Walking 4x12: −1 per step, −100 on the cliff (back to start)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Agents are model-free: they only call reset()/step()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Value iteration (uses P) only gives the ground truth Q* for the metrics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20 seeds per configuration, ε-greedy with decay, γ = 0.99</a:t>
            </a:r>
          </a:p>
        </p:txBody>
      </p:sp>
      <p:pic>
        <p:nvPicPr>
          <p:cNvPr id="6" name="Picture 5" descr="exp1_values_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816" y="1371600"/>
            <a:ext cx="7132118" cy="4126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Minimum requirement: SARSA vs Q-learning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Both learn the optimal policy in both gridworlds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50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SARSA (on-policy, Bellman eq.):  Q ← Q + α[r + γ Q(s',a') − Q]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Q-learning (off-policy, BOE):  Q ← Q + α[r + γ max Q(s',·) − Q]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Deterministic: π* in all 20 seeds (Q-learning stable after ~10 episodes, SARSA ~200)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Slippery, default schedule (ε_min = 0.05, constant α): Q-learning 19/20 seeds optimal, SARSA 15/20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SARSA learns Q of the ε-greedy policy and rarely visits the states next to the pit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Theory fix: GLIE (ε → 0) + Robbins–Monro α(s,a) = α/(1+k·N) → both 20/20 seeds optimal</a:t>
            </a:r>
          </a:p>
        </p:txBody>
      </p:sp>
      <p:pic>
        <p:nvPicPr>
          <p:cNvPr id="6" name="Picture 5" descr="exp1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48" y="1371600"/>
            <a:ext cx="7619786" cy="38364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Comparison of all tabular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Monte Carlo · SARSA · n-step SARSA · Expected SARSA · Q-learning · Double Q-learning</a:t>
            </a:r>
          </a:p>
        </p:txBody>
      </p:sp>
      <p:pic>
        <p:nvPicPr>
          <p:cNvPr id="5" name="Picture 4" descr="exp2_summar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6" y="1371600"/>
            <a:ext cx="11276302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Q-learning has the most accurate Q* and the lowest regret overall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Expected SARSA is the best on-policy method (lower variance than SARSA)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Monte Carlo fails in Cliff Walking: episodes rarely finish, so returns are uninformative (needs terminal episodes)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On-policy vs off-policy: Cliff Walking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Classic Sutton &amp; Barto experiment, ε = 0.1, α =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50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Q-learning learns the optimal path on the cliff edge, but falls while exploring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SARSA learns a safer path because its target includes its own random actions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Online return: SARSA better · Greedy policy: Q-learning optimal</a:t>
            </a:r>
          </a:p>
        </p:txBody>
      </p:sp>
      <p:pic>
        <p:nvPicPr>
          <p:cNvPr id="6" name="Picture 5" descr="exp3_cliff_wal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48" y="1371600"/>
            <a:ext cx="7619786" cy="4342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Analysis of the training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Exploration schedule and Monte Carlo vs TD bias/variance</a:t>
            </a:r>
          </a:p>
        </p:txBody>
      </p:sp>
      <p:pic>
        <p:nvPicPr>
          <p:cNvPr id="5" name="Picture 4" descr="exp5b_expl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419" y="1280160"/>
            <a:ext cx="9498856" cy="2560320"/>
          </a:xfrm>
          <a:prstGeom prst="rect">
            <a:avLst/>
          </a:prstGeom>
        </p:spPr>
      </p:pic>
      <p:pic>
        <p:nvPicPr>
          <p:cNvPr id="6" name="Picture 5" descr="exp5c_bias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931920"/>
            <a:ext cx="8168335" cy="27487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Hyper-parameter tuning with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Multi-objective TPE (speed vs exactness), 12 studies x 150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50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Speed better in all 12 cases (permutation test p&lt;0.05, 10 with p&lt;0.001, 20 held-out seeds)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Q-learning (slippery): 20/20 seeds optimal in 3000 episodes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Expected SARSA (Cliff): 0 → 18/20 optimal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Optuna rediscovered the theory: Robbins–Monro α in 8/10, ε → 0 (GLIE)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Cliff: Q-learning keeps ε=0.27 (off-policy), Expected SARSA needs ε→0 (on-policy)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n-step: n=1 with noisy transitions, n=4 in Cliff</a:t>
            </a:r>
          </a:p>
        </p:txBody>
      </p:sp>
      <p:pic>
        <p:nvPicPr>
          <p:cNvPr id="6" name="Picture 5" descr="exp4_default_vs_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48" y="1371600"/>
            <a:ext cx="7619786" cy="407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SARSA and Q-learning both solve the deterministic and the stochastic gridworld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Q-learning (BOE) → Q*; SARSA (BE) → Q of the ε-greedy policy: safer behaviour while exploring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Stochastic transitions need decaying α and ε → 0 (Robbins–Monro + GLIE) to reach π* in every seed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TD bootstraps (low variance, biased); MC uses real returns (unbiased, high variance, needs episodes to end)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Expected SARSA lowers variance; Double Q removes maximisation bias but learns more slowly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Everything is reproducible: results cached; `uv run python -m experiments.run_all` redraws without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Backup: Optuna Pareto fronts and parameter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Speed vs exactness trade-off; which hyper-parameters matter</a:t>
            </a:r>
          </a:p>
        </p:txBody>
      </p:sp>
      <p:pic>
        <p:nvPicPr>
          <p:cNvPr id="5" name="Picture 4" descr="exp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27" y="1280160"/>
            <a:ext cx="8123241" cy="2651760"/>
          </a:xfrm>
          <a:prstGeom prst="rect">
            <a:avLst/>
          </a:prstGeom>
        </p:spPr>
      </p:pic>
      <p:pic>
        <p:nvPicPr>
          <p:cNvPr id="6" name="Picture 5" descr="exp4_param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738" y="3977639"/>
            <a:ext cx="6726218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Backup: why MC and Double Q fail in Cliff Walking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Estimates collapse to the −1/(1−γ) = −100 'never arrive'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50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MC with 1/N: the −1500 returns of the first episodes stay in the mean forever (non-stationary target)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Constant-α MC: 14/20 stuck seeds → 0/20; exploring starts helps further</a:t>
            </a:r>
          </a:p>
          <a:p>
            <a:pPr>
              <a:spcAft>
                <a:spcPts val="600"/>
              </a:spcAft>
              <a:defRPr sz="1600" b="0">
                <a:solidFill>
                  <a:srgbClr val="1F2A44"/>
                </a:solidFill>
              </a:defRPr>
            </a:pPr>
            <a:r>
              <a:t>• Double Q, α = 0.5: 3/20 seeds collapse to −100; α = 0.1 → 0/20</a:t>
            </a:r>
          </a:p>
        </p:txBody>
      </p:sp>
      <p:pic>
        <p:nvPicPr>
          <p:cNvPr id="6" name="Picture 5" descr="exp6_failur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48" y="1371600"/>
            <a:ext cx="7619786" cy="2543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Backup: dynamic programming (model-based)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Used only as ground truth; agents never see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Value iteration: apply the BOE  V(s) ← max_a Σ p(s'|s,a)[r + γV(s')]  until Δ &lt; θ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Policy iteration: evaluate π exactly (Bellman eq. → linear system), then improve greedily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Both give the same V* (unit test). Number of sweeps: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      Deterministic grid:  VI 6   ·  PI 6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      Slippery grid:        VI 145  ·  PI 7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      Cliff Walking:         VI 15  ·  PI 15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VI: cheap sweeps, asymptotic convergence · PI: expensive steps, exact in a few iterations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2A44"/>
                </a:solidFill>
              </a:defRPr>
            </a:pPr>
            <a:r>
              <a:t>Backup: extras beyond the class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5B66"/>
                </a:solidFill>
              </a:defRPr>
            </a:pPr>
            <a:r>
              <a:t>Each one is a small change to an algorithm seen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Expected SARSA: target r + γ Σ π(a'|s') Q(s',a')  (Bellman eq. (3) inside the TD target, lower variance)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Double Q-learning: two tables, one picks argmax, the other evaluates it  (removes the max over-estimation)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n-step SARSA: n = 1 → SARSA, n → ∞ → Monte Carlo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Regret = V*(s0) − V^π(s0), computed exactly with the model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α(s,a) = α/(1+k·N(s,a)): Robbins–Monro; MC's online mean is the case α = 1/N</a:t>
            </a:r>
          </a:p>
          <a:p>
            <a:pPr>
              <a:spcAft>
                <a:spcPts val="600"/>
              </a:spcAft>
              <a:defRPr sz="2000" b="0">
                <a:solidFill>
                  <a:srgbClr val="1F2A44"/>
                </a:solidFill>
              </a:defRPr>
            </a:pPr>
            <a:r>
              <a:t>• Optuna TPE: proposes hyper-parameters where the good trials concentrate; report on held-out seeds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