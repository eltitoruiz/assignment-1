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efd7c54c-d997-1c18-7c7b-366d8da86879}">
          <p14:sldIdLst>
            <p14:sldId id="256"/>
            <p14:sldId id="257"/>
            <p14:sldId id="258"/>
            <p14:sldId id="259"/>
            <p14:sldId id="260"/>
            <p14:sldId id="261"/>
            <p14:sldId id="262"/>
            <p14:sldId id="263"/>
          </p14:sldIdLst>
        </p14:section>
        <p14:section name="Backup" id="{0d26041c-e6cb-3c73-b468-e1da1e2cac91}">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B2D"/>
                </a:solidFill>
                <a:latin typeface="+mn-lt"/>
              </a:defRPr>
            </a:pPr>
            <a:r>
              <a:rPr sz="1400" b="0" i="0" u="none" strike="noStrike">
                <a:solidFill>
                  <a:srgbClr val="0F1B2D"/>
                </a:solidFill>
                <a:latin typeface="+mn-lt"/>
              </a:rPr>
              <a:t>States where the final greedy action is optimal (%)</a:t>
            </a:r>
          </a:p>
        </c:rich>
      </c:tx>
      <c:layout/>
      <c:overlay val="0"/>
    </c:title>
    <c:autoTitleDeleted val="0"/>
    <c:plotArea>
      <c:layout/>
      <c:barChart>
        <c:barDir val="col"/>
        <c:grouping val="clustered"/>
        <c:varyColors val="0"/>
        <c:ser>
          <c:idx val="0"/>
          <c:order val="0"/>
          <c:tx>
            <c:strRef>
              <c:f>Sheet1!$B$1</c:f>
              <c:strCache>
                <c:ptCount val="1"/>
                <c:pt idx="0">
                  <c:v>Monte Carlo</c:v>
                </c:pt>
              </c:strCache>
            </c:strRef>
          </c:tx>
          <c:spPr>
            <a:solidFill>
              <a:srgbClr val="7A7A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Deterministic grid</c:v>
                  </c:pt>
                  <c:pt idx="1">
                    <c:v>Slippery grid</c:v>
                  </c:pt>
                  <c:pt idx="2">
                    <c:v>Cliff Walking</c:v>
                  </c:pt>
                </c:lvl>
              </c:multiLvlStrCache>
            </c:multiLvlStrRef>
          </c:cat>
          <c:val>
            <c:numRef>
              <c:f>Sheet1!$B$2:$B$4</c:f>
              <c:numCache>
                <c:formatCode>General</c:formatCode>
                <c:ptCount val="3"/>
                <c:pt idx="0">
                  <c:v>80.6</c:v>
                </c:pt>
                <c:pt idx="1">
                  <c:v>72.8</c:v>
                </c:pt>
                <c:pt idx="2">
                  <c:v>41.2</c:v>
                </c:pt>
              </c:numCache>
            </c:numRef>
          </c:val>
        </c:ser>
        <c:ser>
          <c:idx val="1"/>
          <c:order val="1"/>
          <c:tx>
            <c:strRef>
              <c:f>Sheet1!$C$1</c:f>
              <c:strCache>
                <c:ptCount val="1"/>
                <c:pt idx="0">
                  <c:v>SARSA</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Deterministic grid</c:v>
                  </c:pt>
                  <c:pt idx="1">
                    <c:v>Slippery grid</c:v>
                  </c:pt>
                  <c:pt idx="2">
                    <c:v>Cliff Walking</c:v>
                  </c:pt>
                </c:lvl>
              </c:multiLvlStrCache>
            </c:multiLvlStrRef>
          </c:cat>
          <c:val>
            <c:numRef>
              <c:f>Sheet1!$C$2:$C$4</c:f>
              <c:numCache>
                <c:formatCode>General</c:formatCode>
                <c:ptCount val="3"/>
                <c:pt idx="0">
                  <c:v>81.1</c:v>
                </c:pt>
                <c:pt idx="1">
                  <c:v>85</c:v>
                </c:pt>
                <c:pt idx="2">
                  <c:v>56.4</c:v>
                </c:pt>
              </c:numCache>
            </c:numRef>
          </c:val>
        </c:ser>
        <c:ser>
          <c:idx val="2"/>
          <c:order val="2"/>
          <c:tx>
            <c:strRef>
              <c:f>Sheet1!$D$1</c:f>
              <c:strCache>
                <c:ptCount val="1"/>
                <c:pt idx="0">
                  <c:v>n-step SARSA</c:v>
                </c:pt>
              </c:strCache>
            </c:strRef>
          </c:tx>
          <c:spPr>
            <a:solidFill>
              <a:srgbClr val="56B4E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Deterministic grid</c:v>
                  </c:pt>
                  <c:pt idx="1">
                    <c:v>Slippery grid</c:v>
                  </c:pt>
                  <c:pt idx="2">
                    <c:v>Cliff Walking</c:v>
                  </c:pt>
                </c:lvl>
              </c:multiLvlStrCache>
            </c:multiLvlStrRef>
          </c:cat>
          <c:val>
            <c:numRef>
              <c:f>Sheet1!$D$2:$D$4</c:f>
              <c:numCache>
                <c:formatCode>General</c:formatCode>
                <c:ptCount val="3"/>
                <c:pt idx="0">
                  <c:v>80</c:v>
                </c:pt>
                <c:pt idx="1">
                  <c:v>76.1</c:v>
                </c:pt>
                <c:pt idx="2">
                  <c:v>59.1</c:v>
                </c:pt>
              </c:numCache>
            </c:numRef>
          </c:val>
        </c:ser>
        <c:ser>
          <c:idx val="3"/>
          <c:order val="3"/>
          <c:tx>
            <c:strRef>
              <c:f>Sheet1!$E$1</c:f>
              <c:strCache>
                <c:ptCount val="1"/>
                <c:pt idx="0">
                  <c:v>Expected SARSA</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Deterministic grid</c:v>
                  </c:pt>
                  <c:pt idx="1">
                    <c:v>Slippery grid</c:v>
                  </c:pt>
                  <c:pt idx="2">
                    <c:v>Cliff Walking</c:v>
                  </c:pt>
                </c:lvl>
              </c:multiLvlStrCache>
            </c:multiLvlStrRef>
          </c:cat>
          <c:val>
            <c:numRef>
              <c:f>Sheet1!$E$2:$E$4</c:f>
              <c:numCache>
                <c:formatCode>General</c:formatCode>
                <c:ptCount val="3"/>
                <c:pt idx="0">
                  <c:v>82.2</c:v>
                </c:pt>
                <c:pt idx="1">
                  <c:v>87.2</c:v>
                </c:pt>
                <c:pt idx="2">
                  <c:v>74.7</c:v>
                </c:pt>
              </c:numCache>
            </c:numRef>
          </c:val>
        </c:ser>
        <c:ser>
          <c:idx val="4"/>
          <c:order val="4"/>
          <c:tx>
            <c:strRef>
              <c:f>Sheet1!$F$1</c:f>
              <c:strCache>
                <c:ptCount val="1"/>
                <c:pt idx="0">
                  <c:v>Q-learning</c:v>
                </c:pt>
              </c:strCache>
            </c:strRef>
          </c:tx>
          <c:spPr>
            <a:solidFill>
              <a:srgbClr val="D55E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Deterministic grid</c:v>
                  </c:pt>
                  <c:pt idx="1">
                    <c:v>Slippery grid</c:v>
                  </c:pt>
                  <c:pt idx="2">
                    <c:v>Cliff Walking</c:v>
                  </c:pt>
                </c:lvl>
              </c:multiLvlStrCache>
            </c:multiLvlStrRef>
          </c:cat>
          <c:val>
            <c:numRef>
              <c:f>Sheet1!$F$2:$F$4</c:f>
              <c:numCache>
                <c:formatCode>General</c:formatCode>
                <c:ptCount val="3"/>
                <c:pt idx="0">
                  <c:v>94.4</c:v>
                </c:pt>
                <c:pt idx="1">
                  <c:v>97.8</c:v>
                </c:pt>
                <c:pt idx="2">
                  <c:v>95.4</c:v>
                </c:pt>
              </c:numCache>
            </c:numRef>
          </c:val>
        </c:ser>
        <c:ser>
          <c:idx val="5"/>
          <c:order val="5"/>
          <c:tx>
            <c:strRef>
              <c:f>Sheet1!$G$1</c:f>
              <c:strCache>
                <c:ptCount val="1"/>
                <c:pt idx="0">
                  <c:v>Double Q-learning</c:v>
                </c:pt>
              </c:strCache>
            </c:strRef>
          </c:tx>
          <c:spPr>
            <a:solidFill>
              <a:srgbClr val="E69F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Deterministic grid</c:v>
                  </c:pt>
                  <c:pt idx="1">
                    <c:v>Slippery grid</c:v>
                  </c:pt>
                  <c:pt idx="2">
                    <c:v>Cliff Walking</c:v>
                  </c:pt>
                </c:lvl>
              </c:multiLvlStrCache>
            </c:multiLvlStrRef>
          </c:cat>
          <c:val>
            <c:numRef>
              <c:f>Sheet1!$G$2:$G$4</c:f>
              <c:numCache>
                <c:formatCode>General</c:formatCode>
                <c:ptCount val="3"/>
                <c:pt idx="0">
                  <c:v>95</c:v>
                </c:pt>
                <c:pt idx="1">
                  <c:v>88.9</c:v>
                </c:pt>
                <c:pt idx="2">
                  <c:v>67.8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B2D"/>
                </a:solidFill>
                <a:latin typeface="+mn-lt"/>
              </a:defRPr>
            </a:pPr>
            <a:r>
              <a:rPr sz="1400" b="0" i="0" u="none" strike="noStrike">
                <a:solidFill>
                  <a:srgbClr val="0F1B2D"/>
                </a:solidFill>
                <a:latin typeface="+mn-lt"/>
              </a:rPr>
              <a:t>Slippery grid · mean regret (log)</a:t>
            </a:r>
          </a:p>
        </c:rich>
      </c:tx>
      <c:layout/>
      <c:overlay val="0"/>
    </c:title>
    <c:autoTitleDeleted val="0"/>
    <c:plotArea>
      <c:layout/>
      <c:barChart>
        <c:barDir val="col"/>
        <c:grouping val="clustered"/>
        <c:varyColors val="0"/>
        <c:ser>
          <c:idx val="0"/>
          <c:order val="0"/>
          <c:tx>
            <c:strRef>
              <c:f>Sheet1!$B$1</c:f>
              <c:strCache>
                <c:ptCount val="1"/>
                <c:pt idx="0">
                  <c:v>default</c:v>
                </c:pt>
              </c:strCache>
            </c:strRef>
          </c:tx>
          <c:spPr>
            <a:solidFill>
              <a:srgbClr val="B8C2D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SARSA</c:v>
                  </c:pt>
                  <c:pt idx="1">
                    <c:v>Exp. SARSA</c:v>
                  </c:pt>
                  <c:pt idx="2">
                    <c:v>Q-learning</c:v>
                  </c:pt>
                  <c:pt idx="3">
                    <c:v>Double Q</c:v>
                  </c:pt>
                  <c:pt idx="4">
                    <c:v>n-step</c:v>
                  </c:pt>
                  <c:pt idx="5">
                    <c:v>MC const-α</c:v>
                  </c:pt>
                </c:lvl>
              </c:multiLvlStrCache>
            </c:multiLvlStrRef>
          </c:cat>
          <c:val>
            <c:numRef>
              <c:f>Sheet1!$B$2:$B$7</c:f>
              <c:numCache>
                <c:formatCode>General</c:formatCode>
                <c:ptCount val="6"/>
                <c:pt idx="0">
                  <c:v>0.0689</c:v>
                </c:pt>
                <c:pt idx="1">
                  <c:v>0.0343</c:v>
                </c:pt>
                <c:pt idx="2">
                  <c:v>0.0101</c:v>
                </c:pt>
                <c:pt idx="3">
                  <c:v>0.0729</c:v>
                </c:pt>
                <c:pt idx="4">
                  <c:v>0.1829</c:v>
                </c:pt>
                <c:pt idx="5">
                  <c:v>0.4004</c:v>
                </c:pt>
              </c:numCache>
            </c:numRef>
          </c:val>
        </c:ser>
        <c:ser>
          <c:idx val="1"/>
          <c:order val="1"/>
          <c:tx>
            <c:strRef>
              <c:f>Sheet1!$C$1</c:f>
              <c:strCache>
                <c:ptCount val="1"/>
                <c:pt idx="0">
                  <c:v>tuned</c:v>
                </c:pt>
              </c:strCache>
            </c:strRef>
          </c:tx>
          <c:spPr>
            <a:solidFill>
              <a:srgbClr val="D55E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SARSA</c:v>
                  </c:pt>
                  <c:pt idx="1">
                    <c:v>Exp. SARSA</c:v>
                  </c:pt>
                  <c:pt idx="2">
                    <c:v>Q-learning</c:v>
                  </c:pt>
                  <c:pt idx="3">
                    <c:v>Double Q</c:v>
                  </c:pt>
                  <c:pt idx="4">
                    <c:v>n-step</c:v>
                  </c:pt>
                  <c:pt idx="5">
                    <c:v>MC const-α</c:v>
                  </c:pt>
                </c:lvl>
              </c:multiLvlStrCache>
            </c:multiLvlStrRef>
          </c:cat>
          <c:val>
            <c:numRef>
              <c:f>Sheet1!$C$2:$C$7</c:f>
              <c:numCache>
                <c:formatCode>General</c:formatCode>
                <c:ptCount val="6"/>
                <c:pt idx="0">
                  <c:v>0.0396</c:v>
                </c:pt>
                <c:pt idx="1">
                  <c:v>0.0197</c:v>
                </c:pt>
                <c:pt idx="2">
                  <c:v>0.0028</c:v>
                </c:pt>
                <c:pt idx="3">
                  <c:v>0.0158</c:v>
                </c:pt>
                <c:pt idx="4">
                  <c:v>0.0319</c:v>
                </c:pt>
                <c:pt idx="5">
                  <c:v>0.0455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1"/>
      </c:catAx>
      <c:valAx>
        <c:axId val="2094734552"/>
        <c:scaling>
          <c:logBase val="10"/>
          <c:orientation val="minMax"/>
        </c:scaling>
        <c:delete val="0"/>
        <c:axPos val="l"/>
        <c:majorGridlines>
          <c:spPr>
            <a:ln w="9525" cap="flat">
              <a:solidFill>
                <a:srgbClr val="E3E8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B2D"/>
                </a:solidFill>
                <a:latin typeface="+mn-lt"/>
              </a:defRPr>
            </a:pPr>
            <a:r>
              <a:rPr sz="1400" b="0" i="0" u="none" strike="noStrike">
                <a:solidFill>
                  <a:srgbClr val="0F1B2D"/>
                </a:solidFill>
                <a:latin typeface="+mn-lt"/>
              </a:rPr>
              <a:t>Cliff Walking · mean regret (log)</a:t>
            </a:r>
          </a:p>
        </c:rich>
      </c:tx>
      <c:layout/>
      <c:overlay val="0"/>
    </c:title>
    <c:autoTitleDeleted val="0"/>
    <c:plotArea>
      <c:layout/>
      <c:barChart>
        <c:barDir val="col"/>
        <c:grouping val="clustered"/>
        <c:varyColors val="0"/>
        <c:ser>
          <c:idx val="0"/>
          <c:order val="0"/>
          <c:tx>
            <c:strRef>
              <c:f>Sheet1!$B$1</c:f>
              <c:strCache>
                <c:ptCount val="1"/>
                <c:pt idx="0">
                  <c:v>default</c:v>
                </c:pt>
              </c:strCache>
            </c:strRef>
          </c:tx>
          <c:spPr>
            <a:solidFill>
              <a:srgbClr val="B8C2D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SARSA</c:v>
                  </c:pt>
                  <c:pt idx="1">
                    <c:v>Exp. SARSA</c:v>
                  </c:pt>
                  <c:pt idx="2">
                    <c:v>Q-learning</c:v>
                  </c:pt>
                  <c:pt idx="3">
                    <c:v>Double Q</c:v>
                  </c:pt>
                  <c:pt idx="4">
                    <c:v>n-step</c:v>
                  </c:pt>
                  <c:pt idx="5">
                    <c:v>MC const-α</c:v>
                  </c:pt>
                </c:lvl>
              </c:multiLvlStrCache>
            </c:multiLvlStrRef>
          </c:cat>
          <c:val>
            <c:numRef>
              <c:f>Sheet1!$B$2:$B$7</c:f>
              <c:numCache>
                <c:formatCode>General</c:formatCode>
                <c:ptCount val="6"/>
                <c:pt idx="0">
                  <c:v>2.3933</c:v>
                </c:pt>
                <c:pt idx="1">
                  <c:v>0.8601</c:v>
                </c:pt>
                <c:pt idx="2">
                  <c:v>0.5895</c:v>
                </c:pt>
                <c:pt idx="3">
                  <c:v>3.5263</c:v>
                </c:pt>
                <c:pt idx="4">
                  <c:v>2.6814</c:v>
                </c:pt>
                <c:pt idx="5">
                  <c:v>2.7989</c:v>
                </c:pt>
              </c:numCache>
            </c:numRef>
          </c:val>
        </c:ser>
        <c:ser>
          <c:idx val="1"/>
          <c:order val="1"/>
          <c:tx>
            <c:strRef>
              <c:f>Sheet1!$C$1</c:f>
              <c:strCache>
                <c:ptCount val="1"/>
                <c:pt idx="0">
                  <c:v>tuned</c:v>
                </c:pt>
              </c:strCache>
            </c:strRef>
          </c:tx>
          <c:spPr>
            <a:solidFill>
              <a:srgbClr val="D55E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SARSA</c:v>
                  </c:pt>
                  <c:pt idx="1">
                    <c:v>Exp. SARSA</c:v>
                  </c:pt>
                  <c:pt idx="2">
                    <c:v>Q-learning</c:v>
                  </c:pt>
                  <c:pt idx="3">
                    <c:v>Double Q</c:v>
                  </c:pt>
                  <c:pt idx="4">
                    <c:v>n-step</c:v>
                  </c:pt>
                  <c:pt idx="5">
                    <c:v>MC const-α</c:v>
                  </c:pt>
                </c:lvl>
              </c:multiLvlStrCache>
            </c:multiLvlStrRef>
          </c:cat>
          <c:val>
            <c:numRef>
              <c:f>Sheet1!$C$2:$C$7</c:f>
              <c:numCache>
                <c:formatCode>General</c:formatCode>
                <c:ptCount val="6"/>
                <c:pt idx="0">
                  <c:v>0.8955</c:v>
                </c:pt>
                <c:pt idx="1">
                  <c:v>0.5447</c:v>
                </c:pt>
                <c:pt idx="2">
                  <c:v>0.0865</c:v>
                </c:pt>
                <c:pt idx="3">
                  <c:v>0.6735</c:v>
                </c:pt>
                <c:pt idx="4">
                  <c:v>0.5342</c:v>
                </c:pt>
                <c:pt idx="5">
                  <c:v>1.8235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1"/>
      </c:catAx>
      <c:valAx>
        <c:axId val="2094734552"/>
        <c:scaling>
          <c:logBase val="10"/>
          <c:orientation val="minMax"/>
        </c:scaling>
        <c:delete val="0"/>
        <c:axPos val="l"/>
        <c:majorGridlines>
          <c:spPr>
            <a:ln w="9525" cap="flat">
              <a:solidFill>
                <a:srgbClr val="E3E8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We implemented SARSA and Q-learning for the class gridworld, deterministic and slippery, and then asked: why do they behave differently, and what makes them converge? On the right is the class grid: the agent starts bottom-left and the dashed line is the optimal path to +1, avoiding the -1 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Three environments: the class grid, the same grid with slippery 80/10/10 moves, and Cliff Walking from Sutton &amp; Barto. The agents never see the transition model, they only play. But we do know the model, so we compute the true optimum with value iteration and grade every learned policy exactly: regret is how much value the greedy policy loses from the start. Every configuration is trained with 20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Left: the true optimal values and policy, then what SARSA and Q-learning learned. Deterministic: both find the optimal path in all 20 seeds. Slippery: notice the optimum changes, next to the pit it is better to walk away from it. With default settings Q-learning gets 19 of 20 seeds right but SARSA only 15: SARSA learns the value of its own exploring policy, so its values near the pit are lower. When exploration fades to zero and the step size shrinks with the visits, the theory's convergence conditions, both get 20 of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classic Cliff Walking result. SARSA's target uses the action it really takes next, exploration included, so it keeps a row of distance from the cliff. Q-learning's target is the max, it learns the shortest path along the edge, which is optimal, but while it is still exploring it falls more often: worse return during training, yet its greedy policy is optimal in all 20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We compared six tabular methods with the same settings. Q-learning is the most accurate in all three environments. Among the on-policy methods, Expected SARSA is the best: it averages over the next action instead of sampling it, so its updates are less noisy. Monte Carlo collapses in Cliff Walking: it learns from complete episodes, and with a bad early policy the episodes almost never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We tuned all six algorithms in both hard environments with Optuna: 12 studies, 150 trials each, with two goals at once, learn fast and end up exactly optimal. Then we retrained default and tuned settings on 20 new seeds. All 12 learn significantly faster. Expected SARSA goes from never finding the optimal cliff path to 18 of 20 seeds. And the nice part: in 8 of 10 cases Optuna picked a step size that shrinks with the visits, and exploration that fades to zero. It rediscovered the convergence conditions from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Three lessons about training. Exploration must fade out for on-policy methods to become optimal. The step size should shrink with the visits so the values can settle despite random moves. And the cliff taught us the last one: a policy that never reaches the goal is worth minus 100. Monte Carlo averaging every return ever seen keeps the terrible first episodes forever and gets stuck there in 14 of 20 seeds; with a constant step size it forgets them and none gets stuck. The red lines on the right are Double Q seeds stuck at that same minus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To sum up: both algorithms solve the gridworld; Q-learning learns the optimum while SARSA learns the policy it actually follows and plays safe; convergence needs exploration and step sizes that fade, which is what Optuna chose; and everything is reproducible from the repository.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309360" cy="155448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640080" y="3520440"/>
            <a:ext cx="6309360" cy="1005840"/>
          </a:xfrm>
          <a:prstGeom prst="rect">
            <a:avLst/>
          </a:prstGeom>
          <a:noFill/>
          <a:ln/>
        </p:spPr>
        <p:txBody>
          <a:bodyPr wrap="square" rtlCol="0"/>
          <a:lstStyle>
            <a:lvl1pPr indent="0" marL="0">
              <a:buNone/>
              <a:defRPr lang="en-US" sz="2000" dirty="0">
                <a:solidFill>
                  <a:srgbClr val="CADCFC"/>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Tabular RL · Assignment 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56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BB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56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309360" cy="1554480"/>
          </a:xfrm>
          <a:prstGeom prst="rect">
            <a:avLst/>
          </a:prstGeom>
          <a:noFill/>
          <a:ln/>
        </p:spPr>
        <p:txBody>
          <a:bodyPr wrap="square" lIns="0" tIns="0" rIns="0" bIns="0" rtlCol="0" anchor="b"/>
          <a:lstStyle/>
          <a:p>
            <a:pPr algn="l" indent="0" marL="0">
              <a:buNone/>
            </a:pPr>
            <a:r>
              <a:rPr lang="en-US" sz="4600" b="1" dirty="0">
                <a:solidFill>
                  <a:schemeClr val="bg1"/>
                </a:solidFill>
              </a:rPr>
              <a:t>Tabular Reinforcement Learning</a:t>
            </a:r>
            <a:endParaRPr lang="en-US" sz="4600" dirty="0"/>
          </a:p>
        </p:txBody>
      </p:sp>
      <p:sp>
        <p:nvSpPr>
          <p:cNvPr id="3" name="Text 0"/>
          <p:cNvSpPr/>
          <p:nvPr>
            <p:ph idx="101" type="body" hasCustomPrompt="1"/>
          </p:nvPr>
        </p:nvSpPr>
        <p:spPr>
          <a:xfrm>
            <a:off x="640080" y="3520440"/>
            <a:ext cx="6309360" cy="1005840"/>
          </a:xfrm>
          <a:prstGeom prst="rect">
            <a:avLst/>
          </a:prstGeom>
          <a:noFill/>
          <a:ln/>
        </p:spPr>
        <p:txBody>
          <a:bodyPr wrap="square" lIns="0" tIns="0" rIns="0" bIns="0" rtlCol="0" anchor="t"/>
          <a:lstStyle/>
          <a:p>
            <a:pPr indent="0" marL="0">
              <a:buNone/>
            </a:pPr>
            <a:r>
              <a:rPr lang="en-US" sz="2000" dirty="0">
                <a:solidFill>
                  <a:srgbClr val="CADCFC"/>
                </a:solidFill>
              </a:rPr>
              <a:t>SARSA vs Q-learning, and what it takes to make them converge</a:t>
            </a:r>
            <a:endParaRPr lang="en-US" sz="2000" dirty="0"/>
          </a:p>
        </p:txBody>
      </p:sp>
      <p:sp>
        <p:nvSpPr>
          <p:cNvPr id="4" name="Text 2"/>
          <p:cNvSpPr txBox="1"/>
          <p:nvPr/>
        </p:nvSpPr>
        <p:spPr>
          <a:xfrm>
            <a:off x="640080" y="5120640"/>
            <a:ext cx="6309360" cy="365760"/>
          </a:xfrm>
          <a:prstGeom prst="rect">
            <a:avLst/>
          </a:prstGeom>
          <a:noFill/>
          <a:ln/>
        </p:spPr>
        <p:txBody>
          <a:bodyPr wrap="square" lIns="0" tIns="0" rIns="0" bIns="0" rtlCol="0" anchor="ctr"/>
          <a:lstStyle/>
          <a:p>
            <a:pPr indent="0" marL="0">
              <a:buNone/>
            </a:pPr>
            <a:r>
              <a:rPr lang="en-US" sz="1600" b="1" dirty="0">
                <a:solidFill>
                  <a:srgbClr val="FFFFFF"/>
                </a:solidFill>
              </a:rPr>
              <a:t>Igor Ruiz  ·  Andoni Garrido</a:t>
            </a:r>
            <a:endParaRPr lang="en-US" sz="1600" dirty="0"/>
          </a:p>
        </p:txBody>
      </p:sp>
      <p:sp>
        <p:nvSpPr>
          <p:cNvPr id="5" name="Text 3"/>
          <p:cNvSpPr txBox="1"/>
          <p:nvPr/>
        </p:nvSpPr>
        <p:spPr>
          <a:xfrm>
            <a:off x="640080" y="5486400"/>
            <a:ext cx="6309360" cy="365760"/>
          </a:xfrm>
          <a:prstGeom prst="rect">
            <a:avLst/>
          </a:prstGeom>
          <a:noFill/>
          <a:ln/>
        </p:spPr>
        <p:txBody>
          <a:bodyPr wrap="square" lIns="0" tIns="0" rIns="0" bIns="0" rtlCol="0" anchor="ctr"/>
          <a:lstStyle/>
          <a:p>
            <a:pPr indent="0" marL="0">
              <a:buNone/>
            </a:pPr>
            <a:r>
              <a:rPr lang="en-US" sz="1300" dirty="0">
                <a:solidFill>
                  <a:srgbClr val="8A9BB5"/>
                </a:solidFill>
              </a:rPr>
              <a:t>Reinforcement Learning · Universidad de Deusto · October 2026</a:t>
            </a:r>
            <a:endParaRPr lang="en-US" sz="1300" dirty="0"/>
          </a:p>
        </p:txBody>
      </p:sp>
      <p:sp>
        <p:nvSpPr>
          <p:cNvPr id="6" name="grid cell 0"/>
          <p:cNvSpPr/>
          <p:nvPr/>
        </p:nvSpPr>
        <p:spPr>
          <a:xfrm>
            <a:off x="7543800" y="1783080"/>
            <a:ext cx="914400" cy="914400"/>
          </a:xfrm>
          <a:prstGeom prst="roundRect">
            <a:avLst>
              <a:gd name="adj" fmla="val 18000"/>
            </a:avLst>
          </a:prstGeom>
          <a:solidFill>
            <a:srgbClr val="1C2C45"/>
          </a:solidFill>
          <a:ln w="12700">
            <a:solidFill>
              <a:srgbClr val="1C2C45"/>
            </a:solidFill>
            <a:prstDash val="solid"/>
          </a:ln>
        </p:spPr>
      </p:sp>
      <p:sp>
        <p:nvSpPr>
          <p:cNvPr id="7" name="grid cell 1"/>
          <p:cNvSpPr/>
          <p:nvPr/>
        </p:nvSpPr>
        <p:spPr>
          <a:xfrm>
            <a:off x="8586216" y="1783080"/>
            <a:ext cx="914400" cy="914400"/>
          </a:xfrm>
          <a:prstGeom prst="roundRect">
            <a:avLst>
              <a:gd name="adj" fmla="val 18000"/>
            </a:avLst>
          </a:prstGeom>
          <a:solidFill>
            <a:srgbClr val="1C2C45"/>
          </a:solidFill>
          <a:ln w="12700">
            <a:solidFill>
              <a:srgbClr val="1C2C45"/>
            </a:solidFill>
            <a:prstDash val="solid"/>
          </a:ln>
        </p:spPr>
      </p:sp>
      <p:sp>
        <p:nvSpPr>
          <p:cNvPr id="8" name="grid cell 2"/>
          <p:cNvSpPr/>
          <p:nvPr/>
        </p:nvSpPr>
        <p:spPr>
          <a:xfrm>
            <a:off x="9628632" y="1783080"/>
            <a:ext cx="914400" cy="914400"/>
          </a:xfrm>
          <a:prstGeom prst="roundRect">
            <a:avLst>
              <a:gd name="adj" fmla="val 18000"/>
            </a:avLst>
          </a:prstGeom>
          <a:solidFill>
            <a:srgbClr val="1C2C45"/>
          </a:solidFill>
          <a:ln w="12700">
            <a:solidFill>
              <a:srgbClr val="1C2C45"/>
            </a:solidFill>
            <a:prstDash val="solid"/>
          </a:ln>
        </p:spPr>
      </p:sp>
      <p:sp>
        <p:nvSpPr>
          <p:cNvPr id="9" name="grid cell 3"/>
          <p:cNvSpPr/>
          <p:nvPr/>
        </p:nvSpPr>
        <p:spPr>
          <a:xfrm>
            <a:off x="10671048" y="1783080"/>
            <a:ext cx="914400" cy="914400"/>
          </a:xfrm>
          <a:prstGeom prst="roundRect">
            <a:avLst>
              <a:gd name="adj" fmla="val 18000"/>
            </a:avLst>
          </a:prstGeom>
          <a:solidFill>
            <a:srgbClr val="009E73"/>
          </a:solidFill>
          <a:ln w="12700">
            <a:solidFill>
              <a:srgbClr val="009E73"/>
            </a:solidFill>
            <a:prstDash val="solid"/>
          </a:ln>
        </p:spPr>
      </p:sp>
      <p:sp>
        <p:nvSpPr>
          <p:cNvPr id="10" name="Text 8"/>
          <p:cNvSpPr txBox="1"/>
          <p:nvPr/>
        </p:nvSpPr>
        <p:spPr>
          <a:xfrm>
            <a:off x="10671048" y="1783080"/>
            <a:ext cx="914400" cy="914400"/>
          </a:xfrm>
          <a:prstGeom prst="rect">
            <a:avLst/>
          </a:prstGeom>
          <a:noFill/>
          <a:ln/>
        </p:spPr>
        <p:txBody>
          <a:bodyPr wrap="square" lIns="0" tIns="0" rIns="0" bIns="0" rtlCol="0" anchor="ctr"/>
          <a:lstStyle/>
          <a:p>
            <a:pPr algn="ctr" indent="0" marL="0">
              <a:buNone/>
            </a:pPr>
            <a:r>
              <a:rPr lang="en-US" sz="2200" b="1" dirty="0">
                <a:solidFill>
                  <a:srgbClr val="FFFFFF"/>
                </a:solidFill>
              </a:rPr>
              <a:t>+1</a:t>
            </a:r>
            <a:endParaRPr lang="en-US" sz="2200" dirty="0"/>
          </a:p>
        </p:txBody>
      </p:sp>
      <p:sp>
        <p:nvSpPr>
          <p:cNvPr id="11" name="grid cell 4"/>
          <p:cNvSpPr/>
          <p:nvPr/>
        </p:nvSpPr>
        <p:spPr>
          <a:xfrm>
            <a:off x="7543800" y="2825496"/>
            <a:ext cx="914400" cy="914400"/>
          </a:xfrm>
          <a:prstGeom prst="roundRect">
            <a:avLst>
              <a:gd name="adj" fmla="val 18000"/>
            </a:avLst>
          </a:prstGeom>
          <a:solidFill>
            <a:srgbClr val="1C2C45"/>
          </a:solidFill>
          <a:ln w="12700">
            <a:solidFill>
              <a:srgbClr val="1C2C45"/>
            </a:solidFill>
            <a:prstDash val="solid"/>
          </a:ln>
        </p:spPr>
      </p:sp>
      <p:sp>
        <p:nvSpPr>
          <p:cNvPr id="12" name="grid cell 5"/>
          <p:cNvSpPr/>
          <p:nvPr/>
        </p:nvSpPr>
        <p:spPr>
          <a:xfrm>
            <a:off x="8586216" y="2825496"/>
            <a:ext cx="914400" cy="914400"/>
          </a:xfrm>
          <a:prstGeom prst="roundRect">
            <a:avLst>
              <a:gd name="adj" fmla="val 18000"/>
            </a:avLst>
          </a:prstGeom>
          <a:solidFill>
            <a:srgbClr val="33445E"/>
          </a:solidFill>
          <a:ln w="12700">
            <a:solidFill>
              <a:srgbClr val="33445E"/>
            </a:solidFill>
            <a:prstDash val="solid"/>
          </a:ln>
        </p:spPr>
      </p:sp>
      <p:sp>
        <p:nvSpPr>
          <p:cNvPr id="13" name="grid cell 6"/>
          <p:cNvSpPr/>
          <p:nvPr/>
        </p:nvSpPr>
        <p:spPr>
          <a:xfrm>
            <a:off x="9628632" y="2825496"/>
            <a:ext cx="914400" cy="914400"/>
          </a:xfrm>
          <a:prstGeom prst="roundRect">
            <a:avLst>
              <a:gd name="adj" fmla="val 18000"/>
            </a:avLst>
          </a:prstGeom>
          <a:solidFill>
            <a:srgbClr val="1C2C45"/>
          </a:solidFill>
          <a:ln w="12700">
            <a:solidFill>
              <a:srgbClr val="1C2C45"/>
            </a:solidFill>
            <a:prstDash val="solid"/>
          </a:ln>
        </p:spPr>
      </p:sp>
      <p:sp>
        <p:nvSpPr>
          <p:cNvPr id="14" name="grid cell 7"/>
          <p:cNvSpPr/>
          <p:nvPr/>
        </p:nvSpPr>
        <p:spPr>
          <a:xfrm>
            <a:off x="10671048" y="2825496"/>
            <a:ext cx="914400" cy="914400"/>
          </a:xfrm>
          <a:prstGeom prst="roundRect">
            <a:avLst>
              <a:gd name="adj" fmla="val 18000"/>
            </a:avLst>
          </a:prstGeom>
          <a:solidFill>
            <a:srgbClr val="D55E00"/>
          </a:solidFill>
          <a:ln w="12700">
            <a:solidFill>
              <a:srgbClr val="D55E00"/>
            </a:solidFill>
            <a:prstDash val="solid"/>
          </a:ln>
        </p:spPr>
      </p:sp>
      <p:sp>
        <p:nvSpPr>
          <p:cNvPr id="15" name="Text 13"/>
          <p:cNvSpPr txBox="1"/>
          <p:nvPr/>
        </p:nvSpPr>
        <p:spPr>
          <a:xfrm>
            <a:off x="10671048" y="2825496"/>
            <a:ext cx="914400" cy="914400"/>
          </a:xfrm>
          <a:prstGeom prst="rect">
            <a:avLst/>
          </a:prstGeom>
          <a:noFill/>
          <a:ln/>
        </p:spPr>
        <p:txBody>
          <a:bodyPr wrap="square" lIns="0" tIns="0" rIns="0" bIns="0" rtlCol="0" anchor="ctr"/>
          <a:lstStyle/>
          <a:p>
            <a:pPr algn="ctr" indent="0" marL="0">
              <a:buNone/>
            </a:pPr>
            <a:r>
              <a:rPr lang="en-US" sz="2200" b="1" dirty="0">
                <a:solidFill>
                  <a:srgbClr val="FFFFFF"/>
                </a:solidFill>
              </a:rPr>
              <a:t>−1</a:t>
            </a:r>
            <a:endParaRPr lang="en-US" sz="2200" dirty="0"/>
          </a:p>
        </p:txBody>
      </p:sp>
      <p:sp>
        <p:nvSpPr>
          <p:cNvPr id="16" name="grid cell 8"/>
          <p:cNvSpPr/>
          <p:nvPr/>
        </p:nvSpPr>
        <p:spPr>
          <a:xfrm>
            <a:off x="7543800" y="3867912"/>
            <a:ext cx="914400" cy="914400"/>
          </a:xfrm>
          <a:prstGeom prst="roundRect">
            <a:avLst>
              <a:gd name="adj" fmla="val 18000"/>
            </a:avLst>
          </a:prstGeom>
          <a:solidFill>
            <a:srgbClr val="1C2C45"/>
          </a:solidFill>
          <a:ln w="12700">
            <a:solidFill>
              <a:srgbClr val="1C2C45"/>
            </a:solidFill>
            <a:prstDash val="solid"/>
          </a:ln>
        </p:spPr>
      </p:sp>
      <p:sp>
        <p:nvSpPr>
          <p:cNvPr id="17" name="grid cell 9"/>
          <p:cNvSpPr/>
          <p:nvPr/>
        </p:nvSpPr>
        <p:spPr>
          <a:xfrm>
            <a:off x="8586216" y="3867912"/>
            <a:ext cx="914400" cy="914400"/>
          </a:xfrm>
          <a:prstGeom prst="roundRect">
            <a:avLst>
              <a:gd name="adj" fmla="val 18000"/>
            </a:avLst>
          </a:prstGeom>
          <a:solidFill>
            <a:srgbClr val="1C2C45"/>
          </a:solidFill>
          <a:ln w="12700">
            <a:solidFill>
              <a:srgbClr val="1C2C45"/>
            </a:solidFill>
            <a:prstDash val="solid"/>
          </a:ln>
        </p:spPr>
      </p:sp>
      <p:sp>
        <p:nvSpPr>
          <p:cNvPr id="18" name="grid cell 10"/>
          <p:cNvSpPr/>
          <p:nvPr/>
        </p:nvSpPr>
        <p:spPr>
          <a:xfrm>
            <a:off x="9628632" y="3867912"/>
            <a:ext cx="914400" cy="914400"/>
          </a:xfrm>
          <a:prstGeom prst="roundRect">
            <a:avLst>
              <a:gd name="adj" fmla="val 18000"/>
            </a:avLst>
          </a:prstGeom>
          <a:solidFill>
            <a:srgbClr val="1C2C45"/>
          </a:solidFill>
          <a:ln w="12700">
            <a:solidFill>
              <a:srgbClr val="1C2C45"/>
            </a:solidFill>
            <a:prstDash val="solid"/>
          </a:ln>
        </p:spPr>
      </p:sp>
      <p:sp>
        <p:nvSpPr>
          <p:cNvPr id="19" name="grid cell 11"/>
          <p:cNvSpPr/>
          <p:nvPr/>
        </p:nvSpPr>
        <p:spPr>
          <a:xfrm>
            <a:off x="10671048" y="3867912"/>
            <a:ext cx="914400" cy="914400"/>
          </a:xfrm>
          <a:prstGeom prst="roundRect">
            <a:avLst>
              <a:gd name="adj" fmla="val 18000"/>
            </a:avLst>
          </a:prstGeom>
          <a:solidFill>
            <a:srgbClr val="1C2C45"/>
          </a:solidFill>
          <a:ln w="12700">
            <a:solidFill>
              <a:srgbClr val="1C2C45"/>
            </a:solidFill>
            <a:prstDash val="solid"/>
          </a:ln>
        </p:spPr>
      </p:sp>
      <p:sp>
        <p:nvSpPr>
          <p:cNvPr id="20" name="Shape 18"/>
          <p:cNvSpPr/>
          <p:nvPr/>
        </p:nvSpPr>
        <p:spPr>
          <a:xfrm flipV="1">
            <a:off x="8001000" y="3282696"/>
            <a:ext cx="914" cy="1042416"/>
          </a:xfrm>
          <a:prstGeom prst="line">
            <a:avLst/>
          </a:prstGeom>
          <a:noFill/>
          <a:ln w="28575">
            <a:solidFill>
              <a:srgbClr val="FFFFFF"/>
            </a:solidFill>
            <a:prstDash val="dash"/>
          </a:ln>
        </p:spPr>
      </p:sp>
      <p:sp>
        <p:nvSpPr>
          <p:cNvPr id="21" name="Shape 19"/>
          <p:cNvSpPr/>
          <p:nvPr/>
        </p:nvSpPr>
        <p:spPr>
          <a:xfrm flipV="1">
            <a:off x="8001000" y="2240280"/>
            <a:ext cx="914" cy="1042416"/>
          </a:xfrm>
          <a:prstGeom prst="line">
            <a:avLst/>
          </a:prstGeom>
          <a:noFill/>
          <a:ln w="28575">
            <a:solidFill>
              <a:srgbClr val="FFFFFF"/>
            </a:solidFill>
            <a:prstDash val="dash"/>
          </a:ln>
        </p:spPr>
      </p:sp>
      <p:sp>
        <p:nvSpPr>
          <p:cNvPr id="22" name="Shape 20"/>
          <p:cNvSpPr/>
          <p:nvPr/>
        </p:nvSpPr>
        <p:spPr>
          <a:xfrm>
            <a:off x="8001000" y="2240280"/>
            <a:ext cx="1042416" cy="914"/>
          </a:xfrm>
          <a:prstGeom prst="line">
            <a:avLst/>
          </a:prstGeom>
          <a:noFill/>
          <a:ln w="28575">
            <a:solidFill>
              <a:srgbClr val="FFFFFF"/>
            </a:solidFill>
            <a:prstDash val="dash"/>
          </a:ln>
        </p:spPr>
      </p:sp>
      <p:sp>
        <p:nvSpPr>
          <p:cNvPr id="23" name="Shape 21"/>
          <p:cNvSpPr/>
          <p:nvPr/>
        </p:nvSpPr>
        <p:spPr>
          <a:xfrm>
            <a:off x="9043416" y="2240280"/>
            <a:ext cx="1042416" cy="914"/>
          </a:xfrm>
          <a:prstGeom prst="line">
            <a:avLst/>
          </a:prstGeom>
          <a:noFill/>
          <a:ln w="28575">
            <a:solidFill>
              <a:srgbClr val="FFFFFF"/>
            </a:solidFill>
            <a:prstDash val="dash"/>
          </a:ln>
        </p:spPr>
      </p:sp>
      <p:sp>
        <p:nvSpPr>
          <p:cNvPr id="24" name="Shape 22"/>
          <p:cNvSpPr/>
          <p:nvPr/>
        </p:nvSpPr>
        <p:spPr>
          <a:xfrm>
            <a:off x="10085832" y="2240280"/>
            <a:ext cx="530352" cy="914"/>
          </a:xfrm>
          <a:prstGeom prst="line">
            <a:avLst/>
          </a:prstGeom>
          <a:noFill/>
          <a:ln w="28575">
            <a:solidFill>
              <a:srgbClr val="FFFFFF"/>
            </a:solidFill>
            <a:prstDash val="dash"/>
            <a:tailEnd type="triangle"/>
          </a:ln>
        </p:spPr>
      </p:sp>
      <p:sp>
        <p:nvSpPr>
          <p:cNvPr id="25" name="agent"/>
          <p:cNvSpPr/>
          <p:nvPr/>
        </p:nvSpPr>
        <p:spPr>
          <a:xfrm>
            <a:off x="7754112" y="4078224"/>
            <a:ext cx="493776" cy="493776"/>
          </a:xfrm>
          <a:prstGeom prst="ellipse">
            <a:avLst/>
          </a:prstGeom>
          <a:solidFill>
            <a:srgbClr val="E69F00"/>
          </a:solidFill>
          <a:ln w="12700">
            <a:solidFill>
              <a:srgbClr val="E69F00"/>
            </a:solidFill>
            <a:prstDash val="solid"/>
          </a:ln>
        </p:spPr>
      </p:sp>
      <p:sp>
        <p:nvSpPr>
          <p:cNvPr id="26" name="Text 24"/>
          <p:cNvSpPr txBox="1"/>
          <p:nvPr/>
        </p:nvSpPr>
        <p:spPr>
          <a:xfrm>
            <a:off x="7543800" y="4919472"/>
            <a:ext cx="914400" cy="274320"/>
          </a:xfrm>
          <a:prstGeom prst="rect">
            <a:avLst/>
          </a:prstGeom>
          <a:noFill/>
          <a:ln/>
        </p:spPr>
        <p:txBody>
          <a:bodyPr wrap="square" lIns="0" tIns="0" rIns="0" bIns="0" rtlCol="0" anchor="ctr"/>
          <a:lstStyle/>
          <a:p>
            <a:pPr algn="ctr" indent="0" marL="0">
              <a:buNone/>
            </a:pPr>
            <a:r>
              <a:rPr lang="en-US" sz="1100" dirty="0">
                <a:solidFill>
                  <a:srgbClr val="8A9BB5"/>
                </a:solidFill>
              </a:rPr>
              <a:t>start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1"/>
                </a:solidFill>
              </a:rPr>
              <a:t>Three environments, one honest yardstick</a:t>
            </a:r>
            <a:endParaRPr lang="en-US" sz="3200" dirty="0"/>
          </a:p>
        </p:txBody>
      </p:sp>
      <p:sp>
        <p:nvSpPr>
          <p:cNvPr id="3" name="grid cell 0"/>
          <p:cNvSpPr/>
          <p:nvPr/>
        </p:nvSpPr>
        <p:spPr>
          <a:xfrm>
            <a:off x="548640" y="1417320"/>
            <a:ext cx="274320" cy="274320"/>
          </a:xfrm>
          <a:prstGeom prst="roundRect">
            <a:avLst>
              <a:gd name="adj" fmla="val 18000"/>
            </a:avLst>
          </a:prstGeom>
          <a:solidFill>
            <a:srgbClr val="EEF2F6"/>
          </a:solidFill>
          <a:ln w="12700">
            <a:solidFill>
              <a:srgbClr val="EEF2F6"/>
            </a:solidFill>
            <a:prstDash val="solid"/>
          </a:ln>
        </p:spPr>
      </p:sp>
      <p:sp>
        <p:nvSpPr>
          <p:cNvPr id="4" name="grid cell 1"/>
          <p:cNvSpPr/>
          <p:nvPr/>
        </p:nvSpPr>
        <p:spPr>
          <a:xfrm>
            <a:off x="868680" y="1417320"/>
            <a:ext cx="274320" cy="274320"/>
          </a:xfrm>
          <a:prstGeom prst="roundRect">
            <a:avLst>
              <a:gd name="adj" fmla="val 18000"/>
            </a:avLst>
          </a:prstGeom>
          <a:solidFill>
            <a:srgbClr val="EEF2F6"/>
          </a:solidFill>
          <a:ln w="12700">
            <a:solidFill>
              <a:srgbClr val="EEF2F6"/>
            </a:solidFill>
            <a:prstDash val="solid"/>
          </a:ln>
        </p:spPr>
      </p:sp>
      <p:sp>
        <p:nvSpPr>
          <p:cNvPr id="5" name="grid cell 2"/>
          <p:cNvSpPr/>
          <p:nvPr/>
        </p:nvSpPr>
        <p:spPr>
          <a:xfrm>
            <a:off x="1188720" y="1417320"/>
            <a:ext cx="274320" cy="274320"/>
          </a:xfrm>
          <a:prstGeom prst="roundRect">
            <a:avLst>
              <a:gd name="adj" fmla="val 18000"/>
            </a:avLst>
          </a:prstGeom>
          <a:solidFill>
            <a:srgbClr val="EEF2F6"/>
          </a:solidFill>
          <a:ln w="12700">
            <a:solidFill>
              <a:srgbClr val="EEF2F6"/>
            </a:solidFill>
            <a:prstDash val="solid"/>
          </a:ln>
        </p:spPr>
      </p:sp>
      <p:sp>
        <p:nvSpPr>
          <p:cNvPr id="6" name="grid cell 3"/>
          <p:cNvSpPr/>
          <p:nvPr/>
        </p:nvSpPr>
        <p:spPr>
          <a:xfrm>
            <a:off x="1508760" y="1417320"/>
            <a:ext cx="274320" cy="274320"/>
          </a:xfrm>
          <a:prstGeom prst="roundRect">
            <a:avLst>
              <a:gd name="adj" fmla="val 18000"/>
            </a:avLst>
          </a:prstGeom>
          <a:solidFill>
            <a:srgbClr val="009E73"/>
          </a:solidFill>
          <a:ln w="12700">
            <a:solidFill>
              <a:srgbClr val="009E73"/>
            </a:solidFill>
            <a:prstDash val="solid"/>
          </a:ln>
        </p:spPr>
      </p:sp>
      <p:sp>
        <p:nvSpPr>
          <p:cNvPr id="7" name="Text 5"/>
          <p:cNvSpPr txBox="1"/>
          <p:nvPr/>
        </p:nvSpPr>
        <p:spPr>
          <a:xfrm>
            <a:off x="1508760" y="1417320"/>
            <a:ext cx="274320" cy="274320"/>
          </a:xfrm>
          <a:prstGeom prst="rect">
            <a:avLst/>
          </a:prstGeom>
          <a:noFill/>
          <a:ln/>
        </p:spPr>
        <p:txBody>
          <a:bodyPr wrap="square" lIns="0" tIns="0" rIns="0" bIns="0" rtlCol="0" anchor="ctr"/>
          <a:lstStyle/>
          <a:p>
            <a:pPr algn="ctr" indent="0" marL="0">
              <a:buNone/>
            </a:pPr>
            <a:r>
              <a:rPr lang="en-US" sz="700" b="1" dirty="0">
                <a:solidFill>
                  <a:srgbClr val="FFFFFF"/>
                </a:solidFill>
              </a:rPr>
              <a:t>+1</a:t>
            </a:r>
            <a:endParaRPr lang="en-US" sz="700" dirty="0"/>
          </a:p>
        </p:txBody>
      </p:sp>
      <p:sp>
        <p:nvSpPr>
          <p:cNvPr id="8" name="grid cell 4"/>
          <p:cNvSpPr/>
          <p:nvPr/>
        </p:nvSpPr>
        <p:spPr>
          <a:xfrm>
            <a:off x="548640" y="1737360"/>
            <a:ext cx="274320" cy="274320"/>
          </a:xfrm>
          <a:prstGeom prst="roundRect">
            <a:avLst>
              <a:gd name="adj" fmla="val 18000"/>
            </a:avLst>
          </a:prstGeom>
          <a:solidFill>
            <a:srgbClr val="EEF2F6"/>
          </a:solidFill>
          <a:ln w="12700">
            <a:solidFill>
              <a:srgbClr val="EEF2F6"/>
            </a:solidFill>
            <a:prstDash val="solid"/>
          </a:ln>
        </p:spPr>
      </p:sp>
      <p:sp>
        <p:nvSpPr>
          <p:cNvPr id="9" name="grid cell 5"/>
          <p:cNvSpPr/>
          <p:nvPr/>
        </p:nvSpPr>
        <p:spPr>
          <a:xfrm>
            <a:off x="868680" y="1737360"/>
            <a:ext cx="274320" cy="274320"/>
          </a:xfrm>
          <a:prstGeom prst="roundRect">
            <a:avLst>
              <a:gd name="adj" fmla="val 18000"/>
            </a:avLst>
          </a:prstGeom>
          <a:solidFill>
            <a:srgbClr val="C5CEDA"/>
          </a:solidFill>
          <a:ln w="12700">
            <a:solidFill>
              <a:srgbClr val="C5CEDA"/>
            </a:solidFill>
            <a:prstDash val="solid"/>
          </a:ln>
        </p:spPr>
      </p:sp>
      <p:sp>
        <p:nvSpPr>
          <p:cNvPr id="10" name="grid cell 6"/>
          <p:cNvSpPr/>
          <p:nvPr/>
        </p:nvSpPr>
        <p:spPr>
          <a:xfrm>
            <a:off x="1188720" y="1737360"/>
            <a:ext cx="274320" cy="274320"/>
          </a:xfrm>
          <a:prstGeom prst="roundRect">
            <a:avLst>
              <a:gd name="adj" fmla="val 18000"/>
            </a:avLst>
          </a:prstGeom>
          <a:solidFill>
            <a:srgbClr val="EEF2F6"/>
          </a:solidFill>
          <a:ln w="12700">
            <a:solidFill>
              <a:srgbClr val="EEF2F6"/>
            </a:solidFill>
            <a:prstDash val="solid"/>
          </a:ln>
        </p:spPr>
      </p:sp>
      <p:sp>
        <p:nvSpPr>
          <p:cNvPr id="11" name="grid cell 7"/>
          <p:cNvSpPr/>
          <p:nvPr/>
        </p:nvSpPr>
        <p:spPr>
          <a:xfrm>
            <a:off x="1508760" y="1737360"/>
            <a:ext cx="274320" cy="274320"/>
          </a:xfrm>
          <a:prstGeom prst="roundRect">
            <a:avLst>
              <a:gd name="adj" fmla="val 18000"/>
            </a:avLst>
          </a:prstGeom>
          <a:solidFill>
            <a:srgbClr val="D55E00"/>
          </a:solidFill>
          <a:ln w="12700">
            <a:solidFill>
              <a:srgbClr val="D55E00"/>
            </a:solidFill>
            <a:prstDash val="solid"/>
          </a:ln>
        </p:spPr>
      </p:sp>
      <p:sp>
        <p:nvSpPr>
          <p:cNvPr id="12" name="Text 10"/>
          <p:cNvSpPr txBox="1"/>
          <p:nvPr/>
        </p:nvSpPr>
        <p:spPr>
          <a:xfrm>
            <a:off x="1508760" y="1737360"/>
            <a:ext cx="274320" cy="274320"/>
          </a:xfrm>
          <a:prstGeom prst="rect">
            <a:avLst/>
          </a:prstGeom>
          <a:noFill/>
          <a:ln/>
        </p:spPr>
        <p:txBody>
          <a:bodyPr wrap="square" lIns="0" tIns="0" rIns="0" bIns="0" rtlCol="0" anchor="ctr"/>
          <a:lstStyle/>
          <a:p>
            <a:pPr algn="ctr" indent="0" marL="0">
              <a:buNone/>
            </a:pPr>
            <a:r>
              <a:rPr lang="en-US" sz="700" b="1" dirty="0">
                <a:solidFill>
                  <a:srgbClr val="FFFFFF"/>
                </a:solidFill>
              </a:rPr>
              <a:t>−1</a:t>
            </a:r>
            <a:endParaRPr lang="en-US" sz="700" dirty="0"/>
          </a:p>
        </p:txBody>
      </p:sp>
      <p:sp>
        <p:nvSpPr>
          <p:cNvPr id="13" name="grid cell 8"/>
          <p:cNvSpPr/>
          <p:nvPr/>
        </p:nvSpPr>
        <p:spPr>
          <a:xfrm>
            <a:off x="548640" y="2057400"/>
            <a:ext cx="274320" cy="274320"/>
          </a:xfrm>
          <a:prstGeom prst="roundRect">
            <a:avLst>
              <a:gd name="adj" fmla="val 18000"/>
            </a:avLst>
          </a:prstGeom>
          <a:solidFill>
            <a:srgbClr val="EEF2F6"/>
          </a:solidFill>
          <a:ln w="12700">
            <a:solidFill>
              <a:srgbClr val="EEF2F6"/>
            </a:solidFill>
            <a:prstDash val="solid"/>
          </a:ln>
        </p:spPr>
      </p:sp>
      <p:sp>
        <p:nvSpPr>
          <p:cNvPr id="14" name="grid cell 9"/>
          <p:cNvSpPr/>
          <p:nvPr/>
        </p:nvSpPr>
        <p:spPr>
          <a:xfrm>
            <a:off x="868680" y="2057400"/>
            <a:ext cx="274320" cy="274320"/>
          </a:xfrm>
          <a:prstGeom prst="roundRect">
            <a:avLst>
              <a:gd name="adj" fmla="val 18000"/>
            </a:avLst>
          </a:prstGeom>
          <a:solidFill>
            <a:srgbClr val="EEF2F6"/>
          </a:solidFill>
          <a:ln w="12700">
            <a:solidFill>
              <a:srgbClr val="EEF2F6"/>
            </a:solidFill>
            <a:prstDash val="solid"/>
          </a:ln>
        </p:spPr>
      </p:sp>
      <p:sp>
        <p:nvSpPr>
          <p:cNvPr id="15" name="grid cell 10"/>
          <p:cNvSpPr/>
          <p:nvPr/>
        </p:nvSpPr>
        <p:spPr>
          <a:xfrm>
            <a:off x="1188720" y="2057400"/>
            <a:ext cx="274320" cy="274320"/>
          </a:xfrm>
          <a:prstGeom prst="roundRect">
            <a:avLst>
              <a:gd name="adj" fmla="val 18000"/>
            </a:avLst>
          </a:prstGeom>
          <a:solidFill>
            <a:srgbClr val="EEF2F6"/>
          </a:solidFill>
          <a:ln w="12700">
            <a:solidFill>
              <a:srgbClr val="EEF2F6"/>
            </a:solidFill>
            <a:prstDash val="solid"/>
          </a:ln>
        </p:spPr>
      </p:sp>
      <p:sp>
        <p:nvSpPr>
          <p:cNvPr id="16" name="grid cell 11"/>
          <p:cNvSpPr/>
          <p:nvPr/>
        </p:nvSpPr>
        <p:spPr>
          <a:xfrm>
            <a:off x="1508760" y="2057400"/>
            <a:ext cx="274320" cy="274320"/>
          </a:xfrm>
          <a:prstGeom prst="roundRect">
            <a:avLst>
              <a:gd name="adj" fmla="val 18000"/>
            </a:avLst>
          </a:prstGeom>
          <a:solidFill>
            <a:srgbClr val="EEF2F6"/>
          </a:solidFill>
          <a:ln w="12700">
            <a:solidFill>
              <a:srgbClr val="EEF2F6"/>
            </a:solidFill>
            <a:prstDash val="solid"/>
          </a:ln>
        </p:spPr>
      </p:sp>
      <p:sp>
        <p:nvSpPr>
          <p:cNvPr id="17" name="agent"/>
          <p:cNvSpPr/>
          <p:nvPr/>
        </p:nvSpPr>
        <p:spPr>
          <a:xfrm>
            <a:off x="611734" y="2120494"/>
            <a:ext cx="148133" cy="148133"/>
          </a:xfrm>
          <a:prstGeom prst="ellipse">
            <a:avLst/>
          </a:prstGeom>
          <a:solidFill>
            <a:srgbClr val="E69F00"/>
          </a:solidFill>
          <a:ln w="12700">
            <a:solidFill>
              <a:srgbClr val="E69F00"/>
            </a:solidFill>
            <a:prstDash val="solid"/>
          </a:ln>
        </p:spPr>
      </p:sp>
      <p:sp>
        <p:nvSpPr>
          <p:cNvPr id="18" name="grid cell 0"/>
          <p:cNvSpPr/>
          <p:nvPr/>
        </p:nvSpPr>
        <p:spPr>
          <a:xfrm>
            <a:off x="548640" y="2971800"/>
            <a:ext cx="274320" cy="274320"/>
          </a:xfrm>
          <a:prstGeom prst="roundRect">
            <a:avLst>
              <a:gd name="adj" fmla="val 18000"/>
            </a:avLst>
          </a:prstGeom>
          <a:solidFill>
            <a:srgbClr val="EEF2F6"/>
          </a:solidFill>
          <a:ln w="12700">
            <a:solidFill>
              <a:srgbClr val="EEF2F6"/>
            </a:solidFill>
            <a:prstDash val="solid"/>
          </a:ln>
        </p:spPr>
      </p:sp>
      <p:sp>
        <p:nvSpPr>
          <p:cNvPr id="19" name="grid cell 1"/>
          <p:cNvSpPr/>
          <p:nvPr/>
        </p:nvSpPr>
        <p:spPr>
          <a:xfrm>
            <a:off x="868680" y="2971800"/>
            <a:ext cx="274320" cy="274320"/>
          </a:xfrm>
          <a:prstGeom prst="roundRect">
            <a:avLst>
              <a:gd name="adj" fmla="val 18000"/>
            </a:avLst>
          </a:prstGeom>
          <a:solidFill>
            <a:srgbClr val="EEF2F6"/>
          </a:solidFill>
          <a:ln w="12700">
            <a:solidFill>
              <a:srgbClr val="EEF2F6"/>
            </a:solidFill>
            <a:prstDash val="solid"/>
          </a:ln>
        </p:spPr>
      </p:sp>
      <p:sp>
        <p:nvSpPr>
          <p:cNvPr id="20" name="grid cell 2"/>
          <p:cNvSpPr/>
          <p:nvPr/>
        </p:nvSpPr>
        <p:spPr>
          <a:xfrm>
            <a:off x="1188720" y="2971800"/>
            <a:ext cx="274320" cy="274320"/>
          </a:xfrm>
          <a:prstGeom prst="roundRect">
            <a:avLst>
              <a:gd name="adj" fmla="val 18000"/>
            </a:avLst>
          </a:prstGeom>
          <a:solidFill>
            <a:srgbClr val="EEF2F6"/>
          </a:solidFill>
          <a:ln w="12700">
            <a:solidFill>
              <a:srgbClr val="EEF2F6"/>
            </a:solidFill>
            <a:prstDash val="solid"/>
          </a:ln>
        </p:spPr>
      </p:sp>
      <p:sp>
        <p:nvSpPr>
          <p:cNvPr id="21" name="grid cell 3"/>
          <p:cNvSpPr/>
          <p:nvPr/>
        </p:nvSpPr>
        <p:spPr>
          <a:xfrm>
            <a:off x="1508760" y="2971800"/>
            <a:ext cx="274320" cy="274320"/>
          </a:xfrm>
          <a:prstGeom prst="roundRect">
            <a:avLst>
              <a:gd name="adj" fmla="val 18000"/>
            </a:avLst>
          </a:prstGeom>
          <a:solidFill>
            <a:srgbClr val="009E73"/>
          </a:solidFill>
          <a:ln w="12700">
            <a:solidFill>
              <a:srgbClr val="009E73"/>
            </a:solidFill>
            <a:prstDash val="solid"/>
          </a:ln>
        </p:spPr>
      </p:sp>
      <p:sp>
        <p:nvSpPr>
          <p:cNvPr id="22" name="Text 20"/>
          <p:cNvSpPr txBox="1"/>
          <p:nvPr/>
        </p:nvSpPr>
        <p:spPr>
          <a:xfrm>
            <a:off x="1508760" y="2971800"/>
            <a:ext cx="274320" cy="274320"/>
          </a:xfrm>
          <a:prstGeom prst="rect">
            <a:avLst/>
          </a:prstGeom>
          <a:noFill/>
          <a:ln/>
        </p:spPr>
        <p:txBody>
          <a:bodyPr wrap="square" lIns="0" tIns="0" rIns="0" bIns="0" rtlCol="0" anchor="ctr"/>
          <a:lstStyle/>
          <a:p>
            <a:pPr algn="ctr" indent="0" marL="0">
              <a:buNone/>
            </a:pPr>
            <a:r>
              <a:rPr lang="en-US" sz="700" b="1" dirty="0">
                <a:solidFill>
                  <a:srgbClr val="FFFFFF"/>
                </a:solidFill>
              </a:rPr>
              <a:t>+1</a:t>
            </a:r>
            <a:endParaRPr lang="en-US" sz="700" dirty="0"/>
          </a:p>
        </p:txBody>
      </p:sp>
      <p:sp>
        <p:nvSpPr>
          <p:cNvPr id="23" name="grid cell 4"/>
          <p:cNvSpPr/>
          <p:nvPr/>
        </p:nvSpPr>
        <p:spPr>
          <a:xfrm>
            <a:off x="548640" y="3291840"/>
            <a:ext cx="274320" cy="274320"/>
          </a:xfrm>
          <a:prstGeom prst="roundRect">
            <a:avLst>
              <a:gd name="adj" fmla="val 18000"/>
            </a:avLst>
          </a:prstGeom>
          <a:solidFill>
            <a:srgbClr val="EEF2F6"/>
          </a:solidFill>
          <a:ln w="12700">
            <a:solidFill>
              <a:srgbClr val="EEF2F6"/>
            </a:solidFill>
            <a:prstDash val="solid"/>
          </a:ln>
        </p:spPr>
      </p:sp>
      <p:sp>
        <p:nvSpPr>
          <p:cNvPr id="24" name="grid cell 5"/>
          <p:cNvSpPr/>
          <p:nvPr/>
        </p:nvSpPr>
        <p:spPr>
          <a:xfrm>
            <a:off x="868680" y="3291840"/>
            <a:ext cx="274320" cy="274320"/>
          </a:xfrm>
          <a:prstGeom prst="roundRect">
            <a:avLst>
              <a:gd name="adj" fmla="val 18000"/>
            </a:avLst>
          </a:prstGeom>
          <a:solidFill>
            <a:srgbClr val="C5CEDA"/>
          </a:solidFill>
          <a:ln w="12700">
            <a:solidFill>
              <a:srgbClr val="C5CEDA"/>
            </a:solidFill>
            <a:prstDash val="solid"/>
          </a:ln>
        </p:spPr>
      </p:sp>
      <p:sp>
        <p:nvSpPr>
          <p:cNvPr id="25" name="grid cell 6"/>
          <p:cNvSpPr/>
          <p:nvPr/>
        </p:nvSpPr>
        <p:spPr>
          <a:xfrm>
            <a:off x="1188720" y="3291840"/>
            <a:ext cx="274320" cy="274320"/>
          </a:xfrm>
          <a:prstGeom prst="roundRect">
            <a:avLst>
              <a:gd name="adj" fmla="val 18000"/>
            </a:avLst>
          </a:prstGeom>
          <a:solidFill>
            <a:srgbClr val="EEF2F6"/>
          </a:solidFill>
          <a:ln w="12700">
            <a:solidFill>
              <a:srgbClr val="EEF2F6"/>
            </a:solidFill>
            <a:prstDash val="solid"/>
          </a:ln>
        </p:spPr>
      </p:sp>
      <p:sp>
        <p:nvSpPr>
          <p:cNvPr id="26" name="grid cell 7"/>
          <p:cNvSpPr/>
          <p:nvPr/>
        </p:nvSpPr>
        <p:spPr>
          <a:xfrm>
            <a:off x="1508760" y="3291840"/>
            <a:ext cx="274320" cy="274320"/>
          </a:xfrm>
          <a:prstGeom prst="roundRect">
            <a:avLst>
              <a:gd name="adj" fmla="val 18000"/>
            </a:avLst>
          </a:prstGeom>
          <a:solidFill>
            <a:srgbClr val="D55E00"/>
          </a:solidFill>
          <a:ln w="12700">
            <a:solidFill>
              <a:srgbClr val="D55E00"/>
            </a:solidFill>
            <a:prstDash val="solid"/>
          </a:ln>
        </p:spPr>
      </p:sp>
      <p:sp>
        <p:nvSpPr>
          <p:cNvPr id="27" name="Text 25"/>
          <p:cNvSpPr txBox="1"/>
          <p:nvPr/>
        </p:nvSpPr>
        <p:spPr>
          <a:xfrm>
            <a:off x="1508760" y="3291840"/>
            <a:ext cx="274320" cy="274320"/>
          </a:xfrm>
          <a:prstGeom prst="rect">
            <a:avLst/>
          </a:prstGeom>
          <a:noFill/>
          <a:ln/>
        </p:spPr>
        <p:txBody>
          <a:bodyPr wrap="square" lIns="0" tIns="0" rIns="0" bIns="0" rtlCol="0" anchor="ctr"/>
          <a:lstStyle/>
          <a:p>
            <a:pPr algn="ctr" indent="0" marL="0">
              <a:buNone/>
            </a:pPr>
            <a:r>
              <a:rPr lang="en-US" sz="700" b="1" dirty="0">
                <a:solidFill>
                  <a:srgbClr val="FFFFFF"/>
                </a:solidFill>
              </a:rPr>
              <a:t>−1</a:t>
            </a:r>
            <a:endParaRPr lang="en-US" sz="700" dirty="0"/>
          </a:p>
        </p:txBody>
      </p:sp>
      <p:sp>
        <p:nvSpPr>
          <p:cNvPr id="28" name="grid cell 8"/>
          <p:cNvSpPr/>
          <p:nvPr/>
        </p:nvSpPr>
        <p:spPr>
          <a:xfrm>
            <a:off x="548640" y="3611880"/>
            <a:ext cx="274320" cy="274320"/>
          </a:xfrm>
          <a:prstGeom prst="roundRect">
            <a:avLst>
              <a:gd name="adj" fmla="val 18000"/>
            </a:avLst>
          </a:prstGeom>
          <a:solidFill>
            <a:srgbClr val="EEF2F6"/>
          </a:solidFill>
          <a:ln w="12700">
            <a:solidFill>
              <a:srgbClr val="EEF2F6"/>
            </a:solidFill>
            <a:prstDash val="solid"/>
          </a:ln>
        </p:spPr>
      </p:sp>
      <p:sp>
        <p:nvSpPr>
          <p:cNvPr id="29" name="grid cell 9"/>
          <p:cNvSpPr/>
          <p:nvPr/>
        </p:nvSpPr>
        <p:spPr>
          <a:xfrm>
            <a:off x="868680" y="3611880"/>
            <a:ext cx="274320" cy="274320"/>
          </a:xfrm>
          <a:prstGeom prst="roundRect">
            <a:avLst>
              <a:gd name="adj" fmla="val 18000"/>
            </a:avLst>
          </a:prstGeom>
          <a:solidFill>
            <a:srgbClr val="EEF2F6"/>
          </a:solidFill>
          <a:ln w="12700">
            <a:solidFill>
              <a:srgbClr val="EEF2F6"/>
            </a:solidFill>
            <a:prstDash val="solid"/>
          </a:ln>
        </p:spPr>
      </p:sp>
      <p:sp>
        <p:nvSpPr>
          <p:cNvPr id="30" name="grid cell 10"/>
          <p:cNvSpPr/>
          <p:nvPr/>
        </p:nvSpPr>
        <p:spPr>
          <a:xfrm>
            <a:off x="1188720" y="3611880"/>
            <a:ext cx="274320" cy="274320"/>
          </a:xfrm>
          <a:prstGeom prst="roundRect">
            <a:avLst>
              <a:gd name="adj" fmla="val 18000"/>
            </a:avLst>
          </a:prstGeom>
          <a:solidFill>
            <a:srgbClr val="EEF2F6"/>
          </a:solidFill>
          <a:ln w="12700">
            <a:solidFill>
              <a:srgbClr val="EEF2F6"/>
            </a:solidFill>
            <a:prstDash val="solid"/>
          </a:ln>
        </p:spPr>
      </p:sp>
      <p:sp>
        <p:nvSpPr>
          <p:cNvPr id="31" name="grid cell 11"/>
          <p:cNvSpPr/>
          <p:nvPr/>
        </p:nvSpPr>
        <p:spPr>
          <a:xfrm>
            <a:off x="1508760" y="3611880"/>
            <a:ext cx="274320" cy="274320"/>
          </a:xfrm>
          <a:prstGeom prst="roundRect">
            <a:avLst>
              <a:gd name="adj" fmla="val 18000"/>
            </a:avLst>
          </a:prstGeom>
          <a:solidFill>
            <a:srgbClr val="EEF2F6"/>
          </a:solidFill>
          <a:ln w="12700">
            <a:solidFill>
              <a:srgbClr val="EEF2F6"/>
            </a:solidFill>
            <a:prstDash val="solid"/>
          </a:ln>
        </p:spPr>
      </p:sp>
      <p:sp>
        <p:nvSpPr>
          <p:cNvPr id="32" name="agent"/>
          <p:cNvSpPr/>
          <p:nvPr/>
        </p:nvSpPr>
        <p:spPr>
          <a:xfrm>
            <a:off x="611734" y="3674974"/>
            <a:ext cx="148133" cy="148133"/>
          </a:xfrm>
          <a:prstGeom prst="ellipse">
            <a:avLst/>
          </a:prstGeom>
          <a:solidFill>
            <a:srgbClr val="E69F00"/>
          </a:solidFill>
          <a:ln w="12700">
            <a:solidFill>
              <a:srgbClr val="E69F00"/>
            </a:solidFill>
            <a:prstDash val="solid"/>
          </a:ln>
        </p:spPr>
      </p:sp>
      <p:sp>
        <p:nvSpPr>
          <p:cNvPr id="33" name="cliff cell 0,0"/>
          <p:cNvSpPr/>
          <p:nvPr/>
        </p:nvSpPr>
        <p:spPr>
          <a:xfrm>
            <a:off x="548640" y="4526280"/>
            <a:ext cx="105156" cy="105156"/>
          </a:xfrm>
          <a:prstGeom prst="roundRect">
            <a:avLst>
              <a:gd name="adj" fmla="val 18000"/>
            </a:avLst>
          </a:prstGeom>
          <a:solidFill>
            <a:srgbClr val="EEF2F6"/>
          </a:solidFill>
          <a:ln w="12700">
            <a:solidFill>
              <a:srgbClr val="EEF2F6"/>
            </a:solidFill>
            <a:prstDash val="solid"/>
          </a:ln>
        </p:spPr>
      </p:sp>
      <p:sp>
        <p:nvSpPr>
          <p:cNvPr id="34" name="cliff cell 0,1"/>
          <p:cNvSpPr/>
          <p:nvPr/>
        </p:nvSpPr>
        <p:spPr>
          <a:xfrm>
            <a:off x="672084" y="4526280"/>
            <a:ext cx="105156" cy="105156"/>
          </a:xfrm>
          <a:prstGeom prst="roundRect">
            <a:avLst>
              <a:gd name="adj" fmla="val 18000"/>
            </a:avLst>
          </a:prstGeom>
          <a:solidFill>
            <a:srgbClr val="EEF2F6"/>
          </a:solidFill>
          <a:ln w="12700">
            <a:solidFill>
              <a:srgbClr val="EEF2F6"/>
            </a:solidFill>
            <a:prstDash val="solid"/>
          </a:ln>
        </p:spPr>
      </p:sp>
      <p:sp>
        <p:nvSpPr>
          <p:cNvPr id="35" name="cliff cell 0,2"/>
          <p:cNvSpPr/>
          <p:nvPr/>
        </p:nvSpPr>
        <p:spPr>
          <a:xfrm>
            <a:off x="795528" y="4526280"/>
            <a:ext cx="105156" cy="105156"/>
          </a:xfrm>
          <a:prstGeom prst="roundRect">
            <a:avLst>
              <a:gd name="adj" fmla="val 18000"/>
            </a:avLst>
          </a:prstGeom>
          <a:solidFill>
            <a:srgbClr val="EEF2F6"/>
          </a:solidFill>
          <a:ln w="12700">
            <a:solidFill>
              <a:srgbClr val="EEF2F6"/>
            </a:solidFill>
            <a:prstDash val="solid"/>
          </a:ln>
        </p:spPr>
      </p:sp>
      <p:sp>
        <p:nvSpPr>
          <p:cNvPr id="36" name="cliff cell 0,3"/>
          <p:cNvSpPr/>
          <p:nvPr/>
        </p:nvSpPr>
        <p:spPr>
          <a:xfrm>
            <a:off x="918972" y="4526280"/>
            <a:ext cx="105156" cy="105156"/>
          </a:xfrm>
          <a:prstGeom prst="roundRect">
            <a:avLst>
              <a:gd name="adj" fmla="val 18000"/>
            </a:avLst>
          </a:prstGeom>
          <a:solidFill>
            <a:srgbClr val="EEF2F6"/>
          </a:solidFill>
          <a:ln w="12700">
            <a:solidFill>
              <a:srgbClr val="EEF2F6"/>
            </a:solidFill>
            <a:prstDash val="solid"/>
          </a:ln>
        </p:spPr>
      </p:sp>
      <p:sp>
        <p:nvSpPr>
          <p:cNvPr id="37" name="cliff cell 0,4"/>
          <p:cNvSpPr/>
          <p:nvPr/>
        </p:nvSpPr>
        <p:spPr>
          <a:xfrm>
            <a:off x="1042416" y="4526280"/>
            <a:ext cx="105156" cy="105156"/>
          </a:xfrm>
          <a:prstGeom prst="roundRect">
            <a:avLst>
              <a:gd name="adj" fmla="val 18000"/>
            </a:avLst>
          </a:prstGeom>
          <a:solidFill>
            <a:srgbClr val="EEF2F6"/>
          </a:solidFill>
          <a:ln w="12700">
            <a:solidFill>
              <a:srgbClr val="EEF2F6"/>
            </a:solidFill>
            <a:prstDash val="solid"/>
          </a:ln>
        </p:spPr>
      </p:sp>
      <p:sp>
        <p:nvSpPr>
          <p:cNvPr id="38" name="cliff cell 0,5"/>
          <p:cNvSpPr/>
          <p:nvPr/>
        </p:nvSpPr>
        <p:spPr>
          <a:xfrm>
            <a:off x="1165860" y="4526280"/>
            <a:ext cx="105156" cy="105156"/>
          </a:xfrm>
          <a:prstGeom prst="roundRect">
            <a:avLst>
              <a:gd name="adj" fmla="val 18000"/>
            </a:avLst>
          </a:prstGeom>
          <a:solidFill>
            <a:srgbClr val="EEF2F6"/>
          </a:solidFill>
          <a:ln w="12700">
            <a:solidFill>
              <a:srgbClr val="EEF2F6"/>
            </a:solidFill>
            <a:prstDash val="solid"/>
          </a:ln>
        </p:spPr>
      </p:sp>
      <p:sp>
        <p:nvSpPr>
          <p:cNvPr id="39" name="cliff cell 0,6"/>
          <p:cNvSpPr/>
          <p:nvPr/>
        </p:nvSpPr>
        <p:spPr>
          <a:xfrm>
            <a:off x="1289304" y="4526280"/>
            <a:ext cx="105156" cy="105156"/>
          </a:xfrm>
          <a:prstGeom prst="roundRect">
            <a:avLst>
              <a:gd name="adj" fmla="val 18000"/>
            </a:avLst>
          </a:prstGeom>
          <a:solidFill>
            <a:srgbClr val="EEF2F6"/>
          </a:solidFill>
          <a:ln w="12700">
            <a:solidFill>
              <a:srgbClr val="EEF2F6"/>
            </a:solidFill>
            <a:prstDash val="solid"/>
          </a:ln>
        </p:spPr>
      </p:sp>
      <p:sp>
        <p:nvSpPr>
          <p:cNvPr id="40" name="cliff cell 0,7"/>
          <p:cNvSpPr/>
          <p:nvPr/>
        </p:nvSpPr>
        <p:spPr>
          <a:xfrm>
            <a:off x="1412748" y="4526280"/>
            <a:ext cx="105156" cy="105156"/>
          </a:xfrm>
          <a:prstGeom prst="roundRect">
            <a:avLst>
              <a:gd name="adj" fmla="val 18000"/>
            </a:avLst>
          </a:prstGeom>
          <a:solidFill>
            <a:srgbClr val="EEF2F6"/>
          </a:solidFill>
          <a:ln w="12700">
            <a:solidFill>
              <a:srgbClr val="EEF2F6"/>
            </a:solidFill>
            <a:prstDash val="solid"/>
          </a:ln>
        </p:spPr>
      </p:sp>
      <p:sp>
        <p:nvSpPr>
          <p:cNvPr id="41" name="cliff cell 0,8"/>
          <p:cNvSpPr/>
          <p:nvPr/>
        </p:nvSpPr>
        <p:spPr>
          <a:xfrm>
            <a:off x="1536192" y="4526280"/>
            <a:ext cx="105156" cy="105156"/>
          </a:xfrm>
          <a:prstGeom prst="roundRect">
            <a:avLst>
              <a:gd name="adj" fmla="val 18000"/>
            </a:avLst>
          </a:prstGeom>
          <a:solidFill>
            <a:srgbClr val="EEF2F6"/>
          </a:solidFill>
          <a:ln w="12700">
            <a:solidFill>
              <a:srgbClr val="EEF2F6"/>
            </a:solidFill>
            <a:prstDash val="solid"/>
          </a:ln>
        </p:spPr>
      </p:sp>
      <p:sp>
        <p:nvSpPr>
          <p:cNvPr id="42" name="cliff cell 0,9"/>
          <p:cNvSpPr/>
          <p:nvPr/>
        </p:nvSpPr>
        <p:spPr>
          <a:xfrm>
            <a:off x="1659636" y="4526280"/>
            <a:ext cx="105156" cy="105156"/>
          </a:xfrm>
          <a:prstGeom prst="roundRect">
            <a:avLst>
              <a:gd name="adj" fmla="val 18000"/>
            </a:avLst>
          </a:prstGeom>
          <a:solidFill>
            <a:srgbClr val="EEF2F6"/>
          </a:solidFill>
          <a:ln w="12700">
            <a:solidFill>
              <a:srgbClr val="EEF2F6"/>
            </a:solidFill>
            <a:prstDash val="solid"/>
          </a:ln>
        </p:spPr>
      </p:sp>
      <p:sp>
        <p:nvSpPr>
          <p:cNvPr id="43" name="cliff cell 0,10"/>
          <p:cNvSpPr/>
          <p:nvPr/>
        </p:nvSpPr>
        <p:spPr>
          <a:xfrm>
            <a:off x="1783080" y="4526280"/>
            <a:ext cx="105156" cy="105156"/>
          </a:xfrm>
          <a:prstGeom prst="roundRect">
            <a:avLst>
              <a:gd name="adj" fmla="val 18000"/>
            </a:avLst>
          </a:prstGeom>
          <a:solidFill>
            <a:srgbClr val="EEF2F6"/>
          </a:solidFill>
          <a:ln w="12700">
            <a:solidFill>
              <a:srgbClr val="EEF2F6"/>
            </a:solidFill>
            <a:prstDash val="solid"/>
          </a:ln>
        </p:spPr>
      </p:sp>
      <p:sp>
        <p:nvSpPr>
          <p:cNvPr id="44" name="cliff cell 0,11"/>
          <p:cNvSpPr/>
          <p:nvPr/>
        </p:nvSpPr>
        <p:spPr>
          <a:xfrm>
            <a:off x="1906524" y="4526280"/>
            <a:ext cx="105156" cy="105156"/>
          </a:xfrm>
          <a:prstGeom prst="roundRect">
            <a:avLst>
              <a:gd name="adj" fmla="val 18000"/>
            </a:avLst>
          </a:prstGeom>
          <a:solidFill>
            <a:srgbClr val="EEF2F6"/>
          </a:solidFill>
          <a:ln w="12700">
            <a:solidFill>
              <a:srgbClr val="EEF2F6"/>
            </a:solidFill>
            <a:prstDash val="solid"/>
          </a:ln>
        </p:spPr>
      </p:sp>
      <p:sp>
        <p:nvSpPr>
          <p:cNvPr id="45" name="cliff cell 1,0"/>
          <p:cNvSpPr/>
          <p:nvPr/>
        </p:nvSpPr>
        <p:spPr>
          <a:xfrm>
            <a:off x="548640" y="4649724"/>
            <a:ext cx="105156" cy="105156"/>
          </a:xfrm>
          <a:prstGeom prst="roundRect">
            <a:avLst>
              <a:gd name="adj" fmla="val 18000"/>
            </a:avLst>
          </a:prstGeom>
          <a:solidFill>
            <a:srgbClr val="EEF2F6"/>
          </a:solidFill>
          <a:ln w="12700">
            <a:solidFill>
              <a:srgbClr val="EEF2F6"/>
            </a:solidFill>
            <a:prstDash val="solid"/>
          </a:ln>
        </p:spPr>
      </p:sp>
      <p:sp>
        <p:nvSpPr>
          <p:cNvPr id="46" name="cliff cell 1,1"/>
          <p:cNvSpPr/>
          <p:nvPr/>
        </p:nvSpPr>
        <p:spPr>
          <a:xfrm>
            <a:off x="672084" y="4649724"/>
            <a:ext cx="105156" cy="105156"/>
          </a:xfrm>
          <a:prstGeom prst="roundRect">
            <a:avLst>
              <a:gd name="adj" fmla="val 18000"/>
            </a:avLst>
          </a:prstGeom>
          <a:solidFill>
            <a:srgbClr val="EEF2F6"/>
          </a:solidFill>
          <a:ln w="12700">
            <a:solidFill>
              <a:srgbClr val="EEF2F6"/>
            </a:solidFill>
            <a:prstDash val="solid"/>
          </a:ln>
        </p:spPr>
      </p:sp>
      <p:sp>
        <p:nvSpPr>
          <p:cNvPr id="47" name="cliff cell 1,2"/>
          <p:cNvSpPr/>
          <p:nvPr/>
        </p:nvSpPr>
        <p:spPr>
          <a:xfrm>
            <a:off x="795528" y="4649724"/>
            <a:ext cx="105156" cy="105156"/>
          </a:xfrm>
          <a:prstGeom prst="roundRect">
            <a:avLst>
              <a:gd name="adj" fmla="val 18000"/>
            </a:avLst>
          </a:prstGeom>
          <a:solidFill>
            <a:srgbClr val="EEF2F6"/>
          </a:solidFill>
          <a:ln w="12700">
            <a:solidFill>
              <a:srgbClr val="EEF2F6"/>
            </a:solidFill>
            <a:prstDash val="solid"/>
          </a:ln>
        </p:spPr>
      </p:sp>
      <p:sp>
        <p:nvSpPr>
          <p:cNvPr id="48" name="cliff cell 1,3"/>
          <p:cNvSpPr/>
          <p:nvPr/>
        </p:nvSpPr>
        <p:spPr>
          <a:xfrm>
            <a:off x="918972" y="4649724"/>
            <a:ext cx="105156" cy="105156"/>
          </a:xfrm>
          <a:prstGeom prst="roundRect">
            <a:avLst>
              <a:gd name="adj" fmla="val 18000"/>
            </a:avLst>
          </a:prstGeom>
          <a:solidFill>
            <a:srgbClr val="EEF2F6"/>
          </a:solidFill>
          <a:ln w="12700">
            <a:solidFill>
              <a:srgbClr val="EEF2F6"/>
            </a:solidFill>
            <a:prstDash val="solid"/>
          </a:ln>
        </p:spPr>
      </p:sp>
      <p:sp>
        <p:nvSpPr>
          <p:cNvPr id="49" name="cliff cell 1,4"/>
          <p:cNvSpPr/>
          <p:nvPr/>
        </p:nvSpPr>
        <p:spPr>
          <a:xfrm>
            <a:off x="1042416" y="4649724"/>
            <a:ext cx="105156" cy="105156"/>
          </a:xfrm>
          <a:prstGeom prst="roundRect">
            <a:avLst>
              <a:gd name="adj" fmla="val 18000"/>
            </a:avLst>
          </a:prstGeom>
          <a:solidFill>
            <a:srgbClr val="EEF2F6"/>
          </a:solidFill>
          <a:ln w="12700">
            <a:solidFill>
              <a:srgbClr val="EEF2F6"/>
            </a:solidFill>
            <a:prstDash val="solid"/>
          </a:ln>
        </p:spPr>
      </p:sp>
      <p:sp>
        <p:nvSpPr>
          <p:cNvPr id="50" name="cliff cell 1,5"/>
          <p:cNvSpPr/>
          <p:nvPr/>
        </p:nvSpPr>
        <p:spPr>
          <a:xfrm>
            <a:off x="1165860" y="4649724"/>
            <a:ext cx="105156" cy="105156"/>
          </a:xfrm>
          <a:prstGeom prst="roundRect">
            <a:avLst>
              <a:gd name="adj" fmla="val 18000"/>
            </a:avLst>
          </a:prstGeom>
          <a:solidFill>
            <a:srgbClr val="EEF2F6"/>
          </a:solidFill>
          <a:ln w="12700">
            <a:solidFill>
              <a:srgbClr val="EEF2F6"/>
            </a:solidFill>
            <a:prstDash val="solid"/>
          </a:ln>
        </p:spPr>
      </p:sp>
      <p:sp>
        <p:nvSpPr>
          <p:cNvPr id="51" name="cliff cell 1,6"/>
          <p:cNvSpPr/>
          <p:nvPr/>
        </p:nvSpPr>
        <p:spPr>
          <a:xfrm>
            <a:off x="1289304" y="4649724"/>
            <a:ext cx="105156" cy="105156"/>
          </a:xfrm>
          <a:prstGeom prst="roundRect">
            <a:avLst>
              <a:gd name="adj" fmla="val 18000"/>
            </a:avLst>
          </a:prstGeom>
          <a:solidFill>
            <a:srgbClr val="EEF2F6"/>
          </a:solidFill>
          <a:ln w="12700">
            <a:solidFill>
              <a:srgbClr val="EEF2F6"/>
            </a:solidFill>
            <a:prstDash val="solid"/>
          </a:ln>
        </p:spPr>
      </p:sp>
      <p:sp>
        <p:nvSpPr>
          <p:cNvPr id="52" name="cliff cell 1,7"/>
          <p:cNvSpPr/>
          <p:nvPr/>
        </p:nvSpPr>
        <p:spPr>
          <a:xfrm>
            <a:off x="1412748" y="4649724"/>
            <a:ext cx="105156" cy="105156"/>
          </a:xfrm>
          <a:prstGeom prst="roundRect">
            <a:avLst>
              <a:gd name="adj" fmla="val 18000"/>
            </a:avLst>
          </a:prstGeom>
          <a:solidFill>
            <a:srgbClr val="EEF2F6"/>
          </a:solidFill>
          <a:ln w="12700">
            <a:solidFill>
              <a:srgbClr val="EEF2F6"/>
            </a:solidFill>
            <a:prstDash val="solid"/>
          </a:ln>
        </p:spPr>
      </p:sp>
      <p:sp>
        <p:nvSpPr>
          <p:cNvPr id="53" name="cliff cell 1,8"/>
          <p:cNvSpPr/>
          <p:nvPr/>
        </p:nvSpPr>
        <p:spPr>
          <a:xfrm>
            <a:off x="1536192" y="4649724"/>
            <a:ext cx="105156" cy="105156"/>
          </a:xfrm>
          <a:prstGeom prst="roundRect">
            <a:avLst>
              <a:gd name="adj" fmla="val 18000"/>
            </a:avLst>
          </a:prstGeom>
          <a:solidFill>
            <a:srgbClr val="EEF2F6"/>
          </a:solidFill>
          <a:ln w="12700">
            <a:solidFill>
              <a:srgbClr val="EEF2F6"/>
            </a:solidFill>
            <a:prstDash val="solid"/>
          </a:ln>
        </p:spPr>
      </p:sp>
      <p:sp>
        <p:nvSpPr>
          <p:cNvPr id="54" name="cliff cell 1,9"/>
          <p:cNvSpPr/>
          <p:nvPr/>
        </p:nvSpPr>
        <p:spPr>
          <a:xfrm>
            <a:off x="1659636" y="4649724"/>
            <a:ext cx="105156" cy="105156"/>
          </a:xfrm>
          <a:prstGeom prst="roundRect">
            <a:avLst>
              <a:gd name="adj" fmla="val 18000"/>
            </a:avLst>
          </a:prstGeom>
          <a:solidFill>
            <a:srgbClr val="EEF2F6"/>
          </a:solidFill>
          <a:ln w="12700">
            <a:solidFill>
              <a:srgbClr val="EEF2F6"/>
            </a:solidFill>
            <a:prstDash val="solid"/>
          </a:ln>
        </p:spPr>
      </p:sp>
      <p:sp>
        <p:nvSpPr>
          <p:cNvPr id="55" name="cliff cell 1,10"/>
          <p:cNvSpPr/>
          <p:nvPr/>
        </p:nvSpPr>
        <p:spPr>
          <a:xfrm>
            <a:off x="1783080" y="4649724"/>
            <a:ext cx="105156" cy="105156"/>
          </a:xfrm>
          <a:prstGeom prst="roundRect">
            <a:avLst>
              <a:gd name="adj" fmla="val 18000"/>
            </a:avLst>
          </a:prstGeom>
          <a:solidFill>
            <a:srgbClr val="EEF2F6"/>
          </a:solidFill>
          <a:ln w="12700">
            <a:solidFill>
              <a:srgbClr val="EEF2F6"/>
            </a:solidFill>
            <a:prstDash val="solid"/>
          </a:ln>
        </p:spPr>
      </p:sp>
      <p:sp>
        <p:nvSpPr>
          <p:cNvPr id="56" name="cliff cell 1,11"/>
          <p:cNvSpPr/>
          <p:nvPr/>
        </p:nvSpPr>
        <p:spPr>
          <a:xfrm>
            <a:off x="1906524" y="4649724"/>
            <a:ext cx="105156" cy="105156"/>
          </a:xfrm>
          <a:prstGeom prst="roundRect">
            <a:avLst>
              <a:gd name="adj" fmla="val 18000"/>
            </a:avLst>
          </a:prstGeom>
          <a:solidFill>
            <a:srgbClr val="EEF2F6"/>
          </a:solidFill>
          <a:ln w="12700">
            <a:solidFill>
              <a:srgbClr val="EEF2F6"/>
            </a:solidFill>
            <a:prstDash val="solid"/>
          </a:ln>
        </p:spPr>
      </p:sp>
      <p:sp>
        <p:nvSpPr>
          <p:cNvPr id="57" name="cliff cell 2,0"/>
          <p:cNvSpPr/>
          <p:nvPr/>
        </p:nvSpPr>
        <p:spPr>
          <a:xfrm>
            <a:off x="548640" y="4773168"/>
            <a:ext cx="105156" cy="105156"/>
          </a:xfrm>
          <a:prstGeom prst="roundRect">
            <a:avLst>
              <a:gd name="adj" fmla="val 18000"/>
            </a:avLst>
          </a:prstGeom>
          <a:solidFill>
            <a:srgbClr val="EEF2F6"/>
          </a:solidFill>
          <a:ln w="12700">
            <a:solidFill>
              <a:srgbClr val="EEF2F6"/>
            </a:solidFill>
            <a:prstDash val="solid"/>
          </a:ln>
        </p:spPr>
      </p:sp>
      <p:sp>
        <p:nvSpPr>
          <p:cNvPr id="58" name="cliff cell 2,1"/>
          <p:cNvSpPr/>
          <p:nvPr/>
        </p:nvSpPr>
        <p:spPr>
          <a:xfrm>
            <a:off x="672084" y="4773168"/>
            <a:ext cx="105156" cy="105156"/>
          </a:xfrm>
          <a:prstGeom prst="roundRect">
            <a:avLst>
              <a:gd name="adj" fmla="val 18000"/>
            </a:avLst>
          </a:prstGeom>
          <a:solidFill>
            <a:srgbClr val="EEF2F6"/>
          </a:solidFill>
          <a:ln w="12700">
            <a:solidFill>
              <a:srgbClr val="EEF2F6"/>
            </a:solidFill>
            <a:prstDash val="solid"/>
          </a:ln>
        </p:spPr>
      </p:sp>
      <p:sp>
        <p:nvSpPr>
          <p:cNvPr id="59" name="cliff cell 2,2"/>
          <p:cNvSpPr/>
          <p:nvPr/>
        </p:nvSpPr>
        <p:spPr>
          <a:xfrm>
            <a:off x="795528" y="4773168"/>
            <a:ext cx="105156" cy="105156"/>
          </a:xfrm>
          <a:prstGeom prst="roundRect">
            <a:avLst>
              <a:gd name="adj" fmla="val 18000"/>
            </a:avLst>
          </a:prstGeom>
          <a:solidFill>
            <a:srgbClr val="EEF2F6"/>
          </a:solidFill>
          <a:ln w="12700">
            <a:solidFill>
              <a:srgbClr val="EEF2F6"/>
            </a:solidFill>
            <a:prstDash val="solid"/>
          </a:ln>
        </p:spPr>
      </p:sp>
      <p:sp>
        <p:nvSpPr>
          <p:cNvPr id="60" name="cliff cell 2,3"/>
          <p:cNvSpPr/>
          <p:nvPr/>
        </p:nvSpPr>
        <p:spPr>
          <a:xfrm>
            <a:off x="918972" y="4773168"/>
            <a:ext cx="105156" cy="105156"/>
          </a:xfrm>
          <a:prstGeom prst="roundRect">
            <a:avLst>
              <a:gd name="adj" fmla="val 18000"/>
            </a:avLst>
          </a:prstGeom>
          <a:solidFill>
            <a:srgbClr val="EEF2F6"/>
          </a:solidFill>
          <a:ln w="12700">
            <a:solidFill>
              <a:srgbClr val="EEF2F6"/>
            </a:solidFill>
            <a:prstDash val="solid"/>
          </a:ln>
        </p:spPr>
      </p:sp>
      <p:sp>
        <p:nvSpPr>
          <p:cNvPr id="61" name="cliff cell 2,4"/>
          <p:cNvSpPr/>
          <p:nvPr/>
        </p:nvSpPr>
        <p:spPr>
          <a:xfrm>
            <a:off x="1042416" y="4773168"/>
            <a:ext cx="105156" cy="105156"/>
          </a:xfrm>
          <a:prstGeom prst="roundRect">
            <a:avLst>
              <a:gd name="adj" fmla="val 18000"/>
            </a:avLst>
          </a:prstGeom>
          <a:solidFill>
            <a:srgbClr val="EEF2F6"/>
          </a:solidFill>
          <a:ln w="12700">
            <a:solidFill>
              <a:srgbClr val="EEF2F6"/>
            </a:solidFill>
            <a:prstDash val="solid"/>
          </a:ln>
        </p:spPr>
      </p:sp>
      <p:sp>
        <p:nvSpPr>
          <p:cNvPr id="62" name="cliff cell 2,5"/>
          <p:cNvSpPr/>
          <p:nvPr/>
        </p:nvSpPr>
        <p:spPr>
          <a:xfrm>
            <a:off x="1165860" y="4773168"/>
            <a:ext cx="105156" cy="105156"/>
          </a:xfrm>
          <a:prstGeom prst="roundRect">
            <a:avLst>
              <a:gd name="adj" fmla="val 18000"/>
            </a:avLst>
          </a:prstGeom>
          <a:solidFill>
            <a:srgbClr val="EEF2F6"/>
          </a:solidFill>
          <a:ln w="12700">
            <a:solidFill>
              <a:srgbClr val="EEF2F6"/>
            </a:solidFill>
            <a:prstDash val="solid"/>
          </a:ln>
        </p:spPr>
      </p:sp>
      <p:sp>
        <p:nvSpPr>
          <p:cNvPr id="63" name="cliff cell 2,6"/>
          <p:cNvSpPr/>
          <p:nvPr/>
        </p:nvSpPr>
        <p:spPr>
          <a:xfrm>
            <a:off x="1289304" y="4773168"/>
            <a:ext cx="105156" cy="105156"/>
          </a:xfrm>
          <a:prstGeom prst="roundRect">
            <a:avLst>
              <a:gd name="adj" fmla="val 18000"/>
            </a:avLst>
          </a:prstGeom>
          <a:solidFill>
            <a:srgbClr val="EEF2F6"/>
          </a:solidFill>
          <a:ln w="12700">
            <a:solidFill>
              <a:srgbClr val="EEF2F6"/>
            </a:solidFill>
            <a:prstDash val="solid"/>
          </a:ln>
        </p:spPr>
      </p:sp>
      <p:sp>
        <p:nvSpPr>
          <p:cNvPr id="64" name="cliff cell 2,7"/>
          <p:cNvSpPr/>
          <p:nvPr/>
        </p:nvSpPr>
        <p:spPr>
          <a:xfrm>
            <a:off x="1412748" y="4773168"/>
            <a:ext cx="105156" cy="105156"/>
          </a:xfrm>
          <a:prstGeom prst="roundRect">
            <a:avLst>
              <a:gd name="adj" fmla="val 18000"/>
            </a:avLst>
          </a:prstGeom>
          <a:solidFill>
            <a:srgbClr val="EEF2F6"/>
          </a:solidFill>
          <a:ln w="12700">
            <a:solidFill>
              <a:srgbClr val="EEF2F6"/>
            </a:solidFill>
            <a:prstDash val="solid"/>
          </a:ln>
        </p:spPr>
      </p:sp>
      <p:sp>
        <p:nvSpPr>
          <p:cNvPr id="65" name="cliff cell 2,8"/>
          <p:cNvSpPr/>
          <p:nvPr/>
        </p:nvSpPr>
        <p:spPr>
          <a:xfrm>
            <a:off x="1536192" y="4773168"/>
            <a:ext cx="105156" cy="105156"/>
          </a:xfrm>
          <a:prstGeom prst="roundRect">
            <a:avLst>
              <a:gd name="adj" fmla="val 18000"/>
            </a:avLst>
          </a:prstGeom>
          <a:solidFill>
            <a:srgbClr val="EEF2F6"/>
          </a:solidFill>
          <a:ln w="12700">
            <a:solidFill>
              <a:srgbClr val="EEF2F6"/>
            </a:solidFill>
            <a:prstDash val="solid"/>
          </a:ln>
        </p:spPr>
      </p:sp>
      <p:sp>
        <p:nvSpPr>
          <p:cNvPr id="66" name="cliff cell 2,9"/>
          <p:cNvSpPr/>
          <p:nvPr/>
        </p:nvSpPr>
        <p:spPr>
          <a:xfrm>
            <a:off x="1659636" y="4773168"/>
            <a:ext cx="105156" cy="105156"/>
          </a:xfrm>
          <a:prstGeom prst="roundRect">
            <a:avLst>
              <a:gd name="adj" fmla="val 18000"/>
            </a:avLst>
          </a:prstGeom>
          <a:solidFill>
            <a:srgbClr val="EEF2F6"/>
          </a:solidFill>
          <a:ln w="12700">
            <a:solidFill>
              <a:srgbClr val="EEF2F6"/>
            </a:solidFill>
            <a:prstDash val="solid"/>
          </a:ln>
        </p:spPr>
      </p:sp>
      <p:sp>
        <p:nvSpPr>
          <p:cNvPr id="67" name="cliff cell 2,10"/>
          <p:cNvSpPr/>
          <p:nvPr/>
        </p:nvSpPr>
        <p:spPr>
          <a:xfrm>
            <a:off x="1783080" y="4773168"/>
            <a:ext cx="105156" cy="105156"/>
          </a:xfrm>
          <a:prstGeom prst="roundRect">
            <a:avLst>
              <a:gd name="adj" fmla="val 18000"/>
            </a:avLst>
          </a:prstGeom>
          <a:solidFill>
            <a:srgbClr val="EEF2F6"/>
          </a:solidFill>
          <a:ln w="12700">
            <a:solidFill>
              <a:srgbClr val="EEF2F6"/>
            </a:solidFill>
            <a:prstDash val="solid"/>
          </a:ln>
        </p:spPr>
      </p:sp>
      <p:sp>
        <p:nvSpPr>
          <p:cNvPr id="68" name="cliff cell 2,11"/>
          <p:cNvSpPr/>
          <p:nvPr/>
        </p:nvSpPr>
        <p:spPr>
          <a:xfrm>
            <a:off x="1906524" y="4773168"/>
            <a:ext cx="105156" cy="105156"/>
          </a:xfrm>
          <a:prstGeom prst="roundRect">
            <a:avLst>
              <a:gd name="adj" fmla="val 18000"/>
            </a:avLst>
          </a:prstGeom>
          <a:solidFill>
            <a:srgbClr val="EEF2F6"/>
          </a:solidFill>
          <a:ln w="12700">
            <a:solidFill>
              <a:srgbClr val="EEF2F6"/>
            </a:solidFill>
            <a:prstDash val="solid"/>
          </a:ln>
        </p:spPr>
      </p:sp>
      <p:sp>
        <p:nvSpPr>
          <p:cNvPr id="69" name="cliff cell 3,0"/>
          <p:cNvSpPr/>
          <p:nvPr/>
        </p:nvSpPr>
        <p:spPr>
          <a:xfrm>
            <a:off x="548640" y="4896612"/>
            <a:ext cx="105156" cy="105156"/>
          </a:xfrm>
          <a:prstGeom prst="roundRect">
            <a:avLst>
              <a:gd name="adj" fmla="val 18000"/>
            </a:avLst>
          </a:prstGeom>
          <a:solidFill>
            <a:srgbClr val="E69F00"/>
          </a:solidFill>
          <a:ln w="12700">
            <a:solidFill>
              <a:srgbClr val="E69F00"/>
            </a:solidFill>
            <a:prstDash val="solid"/>
          </a:ln>
        </p:spPr>
      </p:sp>
      <p:sp>
        <p:nvSpPr>
          <p:cNvPr id="70" name="cliff cell 3,1"/>
          <p:cNvSpPr/>
          <p:nvPr/>
        </p:nvSpPr>
        <p:spPr>
          <a:xfrm>
            <a:off x="672084" y="4896612"/>
            <a:ext cx="105156" cy="105156"/>
          </a:xfrm>
          <a:prstGeom prst="roundRect">
            <a:avLst>
              <a:gd name="adj" fmla="val 18000"/>
            </a:avLst>
          </a:prstGeom>
          <a:solidFill>
            <a:srgbClr val="D55E00"/>
          </a:solidFill>
          <a:ln w="12700">
            <a:solidFill>
              <a:srgbClr val="D55E00"/>
            </a:solidFill>
            <a:prstDash val="solid"/>
          </a:ln>
        </p:spPr>
      </p:sp>
      <p:sp>
        <p:nvSpPr>
          <p:cNvPr id="71" name="cliff cell 3,2"/>
          <p:cNvSpPr/>
          <p:nvPr/>
        </p:nvSpPr>
        <p:spPr>
          <a:xfrm>
            <a:off x="795528" y="4896612"/>
            <a:ext cx="105156" cy="105156"/>
          </a:xfrm>
          <a:prstGeom prst="roundRect">
            <a:avLst>
              <a:gd name="adj" fmla="val 18000"/>
            </a:avLst>
          </a:prstGeom>
          <a:solidFill>
            <a:srgbClr val="D55E00"/>
          </a:solidFill>
          <a:ln w="12700">
            <a:solidFill>
              <a:srgbClr val="D55E00"/>
            </a:solidFill>
            <a:prstDash val="solid"/>
          </a:ln>
        </p:spPr>
      </p:sp>
      <p:sp>
        <p:nvSpPr>
          <p:cNvPr id="72" name="cliff cell 3,3"/>
          <p:cNvSpPr/>
          <p:nvPr/>
        </p:nvSpPr>
        <p:spPr>
          <a:xfrm>
            <a:off x="918972" y="4896612"/>
            <a:ext cx="105156" cy="105156"/>
          </a:xfrm>
          <a:prstGeom prst="roundRect">
            <a:avLst>
              <a:gd name="adj" fmla="val 18000"/>
            </a:avLst>
          </a:prstGeom>
          <a:solidFill>
            <a:srgbClr val="D55E00"/>
          </a:solidFill>
          <a:ln w="12700">
            <a:solidFill>
              <a:srgbClr val="D55E00"/>
            </a:solidFill>
            <a:prstDash val="solid"/>
          </a:ln>
        </p:spPr>
      </p:sp>
      <p:sp>
        <p:nvSpPr>
          <p:cNvPr id="73" name="cliff cell 3,4"/>
          <p:cNvSpPr/>
          <p:nvPr/>
        </p:nvSpPr>
        <p:spPr>
          <a:xfrm>
            <a:off x="1042416" y="4896612"/>
            <a:ext cx="105156" cy="105156"/>
          </a:xfrm>
          <a:prstGeom prst="roundRect">
            <a:avLst>
              <a:gd name="adj" fmla="val 18000"/>
            </a:avLst>
          </a:prstGeom>
          <a:solidFill>
            <a:srgbClr val="D55E00"/>
          </a:solidFill>
          <a:ln w="12700">
            <a:solidFill>
              <a:srgbClr val="D55E00"/>
            </a:solidFill>
            <a:prstDash val="solid"/>
          </a:ln>
        </p:spPr>
      </p:sp>
      <p:sp>
        <p:nvSpPr>
          <p:cNvPr id="74" name="cliff cell 3,5"/>
          <p:cNvSpPr/>
          <p:nvPr/>
        </p:nvSpPr>
        <p:spPr>
          <a:xfrm>
            <a:off x="1165860" y="4896612"/>
            <a:ext cx="105156" cy="105156"/>
          </a:xfrm>
          <a:prstGeom prst="roundRect">
            <a:avLst>
              <a:gd name="adj" fmla="val 18000"/>
            </a:avLst>
          </a:prstGeom>
          <a:solidFill>
            <a:srgbClr val="D55E00"/>
          </a:solidFill>
          <a:ln w="12700">
            <a:solidFill>
              <a:srgbClr val="D55E00"/>
            </a:solidFill>
            <a:prstDash val="solid"/>
          </a:ln>
        </p:spPr>
      </p:sp>
      <p:sp>
        <p:nvSpPr>
          <p:cNvPr id="75" name="cliff cell 3,6"/>
          <p:cNvSpPr/>
          <p:nvPr/>
        </p:nvSpPr>
        <p:spPr>
          <a:xfrm>
            <a:off x="1289304" y="4896612"/>
            <a:ext cx="105156" cy="105156"/>
          </a:xfrm>
          <a:prstGeom prst="roundRect">
            <a:avLst>
              <a:gd name="adj" fmla="val 18000"/>
            </a:avLst>
          </a:prstGeom>
          <a:solidFill>
            <a:srgbClr val="D55E00"/>
          </a:solidFill>
          <a:ln w="12700">
            <a:solidFill>
              <a:srgbClr val="D55E00"/>
            </a:solidFill>
            <a:prstDash val="solid"/>
          </a:ln>
        </p:spPr>
      </p:sp>
      <p:sp>
        <p:nvSpPr>
          <p:cNvPr id="76" name="cliff cell 3,7"/>
          <p:cNvSpPr/>
          <p:nvPr/>
        </p:nvSpPr>
        <p:spPr>
          <a:xfrm>
            <a:off x="1412748" y="4896612"/>
            <a:ext cx="105156" cy="105156"/>
          </a:xfrm>
          <a:prstGeom prst="roundRect">
            <a:avLst>
              <a:gd name="adj" fmla="val 18000"/>
            </a:avLst>
          </a:prstGeom>
          <a:solidFill>
            <a:srgbClr val="D55E00"/>
          </a:solidFill>
          <a:ln w="12700">
            <a:solidFill>
              <a:srgbClr val="D55E00"/>
            </a:solidFill>
            <a:prstDash val="solid"/>
          </a:ln>
        </p:spPr>
      </p:sp>
      <p:sp>
        <p:nvSpPr>
          <p:cNvPr id="77" name="cliff cell 3,8"/>
          <p:cNvSpPr/>
          <p:nvPr/>
        </p:nvSpPr>
        <p:spPr>
          <a:xfrm>
            <a:off x="1536192" y="4896612"/>
            <a:ext cx="105156" cy="105156"/>
          </a:xfrm>
          <a:prstGeom prst="roundRect">
            <a:avLst>
              <a:gd name="adj" fmla="val 18000"/>
            </a:avLst>
          </a:prstGeom>
          <a:solidFill>
            <a:srgbClr val="D55E00"/>
          </a:solidFill>
          <a:ln w="12700">
            <a:solidFill>
              <a:srgbClr val="D55E00"/>
            </a:solidFill>
            <a:prstDash val="solid"/>
          </a:ln>
        </p:spPr>
      </p:sp>
      <p:sp>
        <p:nvSpPr>
          <p:cNvPr id="78" name="cliff cell 3,9"/>
          <p:cNvSpPr/>
          <p:nvPr/>
        </p:nvSpPr>
        <p:spPr>
          <a:xfrm>
            <a:off x="1659636" y="4896612"/>
            <a:ext cx="105156" cy="105156"/>
          </a:xfrm>
          <a:prstGeom prst="roundRect">
            <a:avLst>
              <a:gd name="adj" fmla="val 18000"/>
            </a:avLst>
          </a:prstGeom>
          <a:solidFill>
            <a:srgbClr val="D55E00"/>
          </a:solidFill>
          <a:ln w="12700">
            <a:solidFill>
              <a:srgbClr val="D55E00"/>
            </a:solidFill>
            <a:prstDash val="solid"/>
          </a:ln>
        </p:spPr>
      </p:sp>
      <p:sp>
        <p:nvSpPr>
          <p:cNvPr id="79" name="cliff cell 3,10"/>
          <p:cNvSpPr/>
          <p:nvPr/>
        </p:nvSpPr>
        <p:spPr>
          <a:xfrm>
            <a:off x="1783080" y="4896612"/>
            <a:ext cx="105156" cy="105156"/>
          </a:xfrm>
          <a:prstGeom prst="roundRect">
            <a:avLst>
              <a:gd name="adj" fmla="val 18000"/>
            </a:avLst>
          </a:prstGeom>
          <a:solidFill>
            <a:srgbClr val="D55E00"/>
          </a:solidFill>
          <a:ln w="12700">
            <a:solidFill>
              <a:srgbClr val="D55E00"/>
            </a:solidFill>
            <a:prstDash val="solid"/>
          </a:ln>
        </p:spPr>
      </p:sp>
      <p:sp>
        <p:nvSpPr>
          <p:cNvPr id="80" name="cliff cell 3,11"/>
          <p:cNvSpPr/>
          <p:nvPr/>
        </p:nvSpPr>
        <p:spPr>
          <a:xfrm>
            <a:off x="1906524" y="4896612"/>
            <a:ext cx="105156" cy="105156"/>
          </a:xfrm>
          <a:prstGeom prst="roundRect">
            <a:avLst>
              <a:gd name="adj" fmla="val 18000"/>
            </a:avLst>
          </a:prstGeom>
          <a:solidFill>
            <a:srgbClr val="009E73"/>
          </a:solidFill>
          <a:ln w="12700">
            <a:solidFill>
              <a:srgbClr val="009E73"/>
            </a:solidFill>
            <a:prstDash val="solid"/>
          </a:ln>
        </p:spPr>
      </p:sp>
      <p:sp>
        <p:nvSpPr>
          <p:cNvPr id="81" name="Text 79"/>
          <p:cNvSpPr txBox="1"/>
          <p:nvPr/>
        </p:nvSpPr>
        <p:spPr>
          <a:xfrm>
            <a:off x="2148840" y="1417320"/>
            <a:ext cx="3840480" cy="411480"/>
          </a:xfrm>
          <a:prstGeom prst="rect">
            <a:avLst/>
          </a:prstGeom>
          <a:noFill/>
          <a:ln/>
        </p:spPr>
        <p:txBody>
          <a:bodyPr wrap="square" lIns="0" tIns="0" rIns="0" bIns="0" rtlCol="0" anchor="ctr"/>
          <a:lstStyle/>
          <a:p>
            <a:pPr indent="0" marL="0">
              <a:buNone/>
            </a:pPr>
            <a:r>
              <a:rPr lang="en-US" sz="2000" b="1" dirty="0">
                <a:solidFill>
                  <a:schemeClr val="tx1"/>
                </a:solidFill>
              </a:rPr>
              <a:t>Gridworld · deterministic</a:t>
            </a:r>
            <a:endParaRPr lang="en-US" sz="2000" dirty="0"/>
          </a:p>
        </p:txBody>
      </p:sp>
      <p:sp>
        <p:nvSpPr>
          <p:cNvPr id="82" name="Text 80"/>
          <p:cNvSpPr txBox="1"/>
          <p:nvPr/>
        </p:nvSpPr>
        <p:spPr>
          <a:xfrm>
            <a:off x="2148840" y="1828800"/>
            <a:ext cx="3840480" cy="548640"/>
          </a:xfrm>
          <a:prstGeom prst="rect">
            <a:avLst/>
          </a:prstGeom>
          <a:noFill/>
          <a:ln/>
        </p:spPr>
        <p:txBody>
          <a:bodyPr wrap="square" lIns="0" tIns="0" rIns="0" bIns="0" rtlCol="0" anchor="t"/>
          <a:lstStyle/>
          <a:p>
            <a:pPr indent="0" marL="0">
              <a:buNone/>
            </a:pPr>
            <a:r>
              <a:rPr lang="en-US" sz="1500" dirty="0">
                <a:solidFill>
                  <a:schemeClr val="tx2"/>
                </a:solidFill>
              </a:rPr>
              <a:t>The 3×4 grid from class: +1 goal, −1 pit, one wall</a:t>
            </a:r>
            <a:endParaRPr lang="en-US" sz="1500" dirty="0"/>
          </a:p>
        </p:txBody>
      </p:sp>
      <p:sp>
        <p:nvSpPr>
          <p:cNvPr id="83" name="Text 81"/>
          <p:cNvSpPr txBox="1"/>
          <p:nvPr/>
        </p:nvSpPr>
        <p:spPr>
          <a:xfrm>
            <a:off x="2148840" y="2971800"/>
            <a:ext cx="3840480" cy="411480"/>
          </a:xfrm>
          <a:prstGeom prst="rect">
            <a:avLst/>
          </a:prstGeom>
          <a:noFill/>
          <a:ln/>
        </p:spPr>
        <p:txBody>
          <a:bodyPr wrap="square" lIns="0" tIns="0" rIns="0" bIns="0" rtlCol="0" anchor="ctr"/>
          <a:lstStyle/>
          <a:p>
            <a:pPr indent="0" marL="0">
              <a:buNone/>
            </a:pPr>
            <a:r>
              <a:rPr lang="en-US" sz="2000" b="1" dirty="0">
                <a:solidFill>
                  <a:schemeClr val="tx1"/>
                </a:solidFill>
              </a:rPr>
              <a:t>Gridworld · slippery</a:t>
            </a:r>
            <a:endParaRPr lang="en-US" sz="2000" dirty="0"/>
          </a:p>
        </p:txBody>
      </p:sp>
      <p:sp>
        <p:nvSpPr>
          <p:cNvPr id="84" name="Text 82"/>
          <p:cNvSpPr txBox="1"/>
          <p:nvPr/>
        </p:nvSpPr>
        <p:spPr>
          <a:xfrm>
            <a:off x="2148840" y="3383280"/>
            <a:ext cx="3840480" cy="548640"/>
          </a:xfrm>
          <a:prstGeom prst="rect">
            <a:avLst/>
          </a:prstGeom>
          <a:noFill/>
          <a:ln/>
        </p:spPr>
        <p:txBody>
          <a:bodyPr wrap="square" lIns="0" tIns="0" rIns="0" bIns="0" rtlCol="0" anchor="t"/>
          <a:lstStyle/>
          <a:p>
            <a:pPr indent="0" marL="0">
              <a:buNone/>
            </a:pPr>
            <a:r>
              <a:rPr lang="en-US" sz="1500" dirty="0">
                <a:solidFill>
                  <a:schemeClr val="tx2"/>
                </a:solidFill>
              </a:rPr>
              <a:t>80% the intended move, 10% to each side</a:t>
            </a:r>
            <a:endParaRPr lang="en-US" sz="1500" dirty="0"/>
          </a:p>
        </p:txBody>
      </p:sp>
      <p:sp>
        <p:nvSpPr>
          <p:cNvPr id="85" name="Text 83"/>
          <p:cNvSpPr txBox="1"/>
          <p:nvPr/>
        </p:nvSpPr>
        <p:spPr>
          <a:xfrm>
            <a:off x="2148840" y="4526280"/>
            <a:ext cx="3840480" cy="411480"/>
          </a:xfrm>
          <a:prstGeom prst="rect">
            <a:avLst/>
          </a:prstGeom>
          <a:noFill/>
          <a:ln/>
        </p:spPr>
        <p:txBody>
          <a:bodyPr wrap="square" lIns="0" tIns="0" rIns="0" bIns="0" rtlCol="0" anchor="ctr"/>
          <a:lstStyle/>
          <a:p>
            <a:pPr indent="0" marL="0">
              <a:buNone/>
            </a:pPr>
            <a:r>
              <a:rPr lang="en-US" sz="2000" b="1" dirty="0">
                <a:solidFill>
                  <a:schemeClr val="tx1"/>
                </a:solidFill>
              </a:rPr>
              <a:t>Cliff Walking</a:t>
            </a:r>
            <a:endParaRPr lang="en-US" sz="2000" dirty="0"/>
          </a:p>
        </p:txBody>
      </p:sp>
      <p:sp>
        <p:nvSpPr>
          <p:cNvPr id="86" name="Text 84"/>
          <p:cNvSpPr txBox="1"/>
          <p:nvPr/>
        </p:nvSpPr>
        <p:spPr>
          <a:xfrm>
            <a:off x="2148840" y="4937760"/>
            <a:ext cx="3840480" cy="548640"/>
          </a:xfrm>
          <a:prstGeom prst="rect">
            <a:avLst/>
          </a:prstGeom>
          <a:noFill/>
          <a:ln/>
        </p:spPr>
        <p:txBody>
          <a:bodyPr wrap="square" lIns="0" tIns="0" rIns="0" bIns="0" rtlCol="0" anchor="t"/>
          <a:lstStyle/>
          <a:p>
            <a:pPr indent="0" marL="0">
              <a:buNone/>
            </a:pPr>
            <a:r>
              <a:rPr lang="en-US" sz="1500" dirty="0">
                <a:solidFill>
                  <a:schemeClr val="tx2"/>
                </a:solidFill>
              </a:rPr>
              <a:t>−1 per step, −100 for falling off the cliff</a:t>
            </a:r>
            <a:endParaRPr lang="en-US" sz="1500" dirty="0"/>
          </a:p>
        </p:txBody>
      </p:sp>
      <p:sp>
        <p:nvSpPr>
          <p:cNvPr id="87" name="panel"/>
          <p:cNvSpPr/>
          <p:nvPr/>
        </p:nvSpPr>
        <p:spPr>
          <a:xfrm>
            <a:off x="6400800" y="1325880"/>
            <a:ext cx="5212080" cy="4709160"/>
          </a:xfrm>
          <a:prstGeom prst="roundRect">
            <a:avLst>
              <a:gd name="adj" fmla="val 2330"/>
            </a:avLst>
          </a:prstGeom>
          <a:solidFill>
            <a:srgbClr val="EEF2F6"/>
          </a:solidFill>
          <a:ln w="12700">
            <a:solidFill>
              <a:srgbClr val="EEF2F6"/>
            </a:solidFill>
            <a:prstDash val="solid"/>
          </a:ln>
        </p:spPr>
      </p:sp>
      <p:sp>
        <p:nvSpPr>
          <p:cNvPr id="88" name="Text 86"/>
          <p:cNvSpPr txBox="1"/>
          <p:nvPr/>
        </p:nvSpPr>
        <p:spPr>
          <a:xfrm>
            <a:off x="6766560" y="1554480"/>
            <a:ext cx="4572000" cy="457200"/>
          </a:xfrm>
          <a:prstGeom prst="rect">
            <a:avLst/>
          </a:prstGeom>
          <a:noFill/>
          <a:ln/>
        </p:spPr>
        <p:txBody>
          <a:bodyPr wrap="square" lIns="0" tIns="0" rIns="0" bIns="0" rtlCol="0" anchor="ctr"/>
          <a:lstStyle/>
          <a:p>
            <a:pPr indent="0" marL="0">
              <a:buNone/>
            </a:pPr>
            <a:r>
              <a:rPr lang="en-US" sz="2000" b="1" dirty="0">
                <a:solidFill>
                  <a:schemeClr val="tx1"/>
                </a:solidFill>
              </a:rPr>
              <a:t>How we score every run</a:t>
            </a:r>
            <a:endParaRPr lang="en-US" sz="2000" dirty="0"/>
          </a:p>
        </p:txBody>
      </p:sp>
      <p:sp>
        <p:nvSpPr>
          <p:cNvPr id="89" name="Model-free agents"/>
          <p:cNvSpPr/>
          <p:nvPr/>
        </p:nvSpPr>
        <p:spPr>
          <a:xfrm>
            <a:off x="6766560" y="2286000"/>
            <a:ext cx="685800" cy="685800"/>
          </a:xfrm>
          <a:prstGeom prst="roundRect">
            <a:avLst>
              <a:gd name="adj" fmla="val 18000"/>
            </a:avLst>
          </a:prstGeom>
          <a:solidFill>
            <a:srgbClr val="0072B2"/>
          </a:solidFill>
          <a:ln w="12700">
            <a:solidFill>
              <a:srgbClr val="0072B2"/>
            </a:solidFill>
            <a:prstDash val="solid"/>
          </a:ln>
        </p:spPr>
      </p:sp>
      <p:pic>
        <p:nvPicPr>
          <p:cNvPr id="90" name="Image 0" descr="Model-free agents">    </p:cNvPr>
          <p:cNvPicPr>
            <a:picLocks noChangeAspect="1"/>
          </p:cNvPicPr>
          <p:nvPr/>
        </p:nvPicPr>
        <p:blipFill>
          <a:blip r:embed="rId1"/>
          <a:stretch>
            <a:fillRect/>
          </a:stretch>
        </p:blipFill>
        <p:spPr>
          <a:xfrm>
            <a:off x="6931152" y="2450592"/>
            <a:ext cx="356616" cy="356616"/>
          </a:xfrm>
          <a:prstGeom prst="rect">
            <a:avLst/>
          </a:prstGeom>
        </p:spPr>
      </p:pic>
      <p:sp>
        <p:nvSpPr>
          <p:cNvPr id="91" name="Text 88"/>
          <p:cNvSpPr txBox="1"/>
          <p:nvPr/>
        </p:nvSpPr>
        <p:spPr>
          <a:xfrm>
            <a:off x="7680960" y="2267712"/>
            <a:ext cx="3657600" cy="365760"/>
          </a:xfrm>
          <a:prstGeom prst="rect">
            <a:avLst/>
          </a:prstGeom>
          <a:noFill/>
          <a:ln/>
        </p:spPr>
        <p:txBody>
          <a:bodyPr wrap="square" lIns="0" tIns="0" rIns="0" bIns="0" rtlCol="0" anchor="ctr"/>
          <a:lstStyle/>
          <a:p>
            <a:pPr indent="0" marL="0">
              <a:buNone/>
            </a:pPr>
            <a:r>
              <a:rPr lang="en-US" sz="1700" b="1" dirty="0">
                <a:solidFill>
                  <a:schemeClr val="tx1"/>
                </a:solidFill>
              </a:rPr>
              <a:t>Model-free agents</a:t>
            </a:r>
            <a:endParaRPr lang="en-US" sz="1700" dirty="0"/>
          </a:p>
        </p:txBody>
      </p:sp>
      <p:sp>
        <p:nvSpPr>
          <p:cNvPr id="92" name="Text 89"/>
          <p:cNvSpPr txBox="1"/>
          <p:nvPr/>
        </p:nvSpPr>
        <p:spPr>
          <a:xfrm>
            <a:off x="7680960" y="2633472"/>
            <a:ext cx="3657600" cy="411480"/>
          </a:xfrm>
          <a:prstGeom prst="rect">
            <a:avLst/>
          </a:prstGeom>
          <a:noFill/>
          <a:ln/>
        </p:spPr>
        <p:txBody>
          <a:bodyPr wrap="square" lIns="0" tIns="0" rIns="0" bIns="0" rtlCol="0" anchor="ctr"/>
          <a:lstStyle/>
          <a:p>
            <a:pPr indent="0" marL="0">
              <a:buNone/>
            </a:pPr>
            <a:r>
              <a:rPr lang="en-US" sz="1400" dirty="0">
                <a:solidFill>
                  <a:schemeClr val="tx2"/>
                </a:solidFill>
              </a:rPr>
              <a:t>they only call reset() and step()</a:t>
            </a:r>
            <a:endParaRPr lang="en-US" sz="1400" dirty="0"/>
          </a:p>
        </p:txBody>
      </p:sp>
      <p:sp>
        <p:nvSpPr>
          <p:cNvPr id="93" name="Exact regret"/>
          <p:cNvSpPr/>
          <p:nvPr/>
        </p:nvSpPr>
        <p:spPr>
          <a:xfrm>
            <a:off x="6766560" y="3474720"/>
            <a:ext cx="685800" cy="685800"/>
          </a:xfrm>
          <a:prstGeom prst="roundRect">
            <a:avLst>
              <a:gd name="adj" fmla="val 18000"/>
            </a:avLst>
          </a:prstGeom>
          <a:solidFill>
            <a:srgbClr val="D55E00"/>
          </a:solidFill>
          <a:ln w="12700">
            <a:solidFill>
              <a:srgbClr val="D55E00"/>
            </a:solidFill>
            <a:prstDash val="solid"/>
          </a:ln>
        </p:spPr>
      </p:sp>
      <p:pic>
        <p:nvPicPr>
          <p:cNvPr id="94" name="Image 1" descr="Exact regret">    </p:cNvPr>
          <p:cNvPicPr>
            <a:picLocks noChangeAspect="1"/>
          </p:cNvPicPr>
          <p:nvPr/>
        </p:nvPicPr>
        <p:blipFill>
          <a:blip r:embed="rId2"/>
          <a:stretch>
            <a:fillRect/>
          </a:stretch>
        </p:blipFill>
        <p:spPr>
          <a:xfrm>
            <a:off x="6931152" y="3639312"/>
            <a:ext cx="356616" cy="356616"/>
          </a:xfrm>
          <a:prstGeom prst="rect">
            <a:avLst/>
          </a:prstGeom>
        </p:spPr>
      </p:pic>
      <p:sp>
        <p:nvSpPr>
          <p:cNvPr id="95" name="Text 91"/>
          <p:cNvSpPr txBox="1"/>
          <p:nvPr/>
        </p:nvSpPr>
        <p:spPr>
          <a:xfrm>
            <a:off x="7680960" y="3456432"/>
            <a:ext cx="3657600" cy="365760"/>
          </a:xfrm>
          <a:prstGeom prst="rect">
            <a:avLst/>
          </a:prstGeom>
          <a:noFill/>
          <a:ln/>
        </p:spPr>
        <p:txBody>
          <a:bodyPr wrap="square" lIns="0" tIns="0" rIns="0" bIns="0" rtlCol="0" anchor="ctr"/>
          <a:lstStyle/>
          <a:p>
            <a:pPr indent="0" marL="0">
              <a:buNone/>
            </a:pPr>
            <a:r>
              <a:rPr lang="en-US" sz="1700" b="1" dirty="0">
                <a:solidFill>
                  <a:schemeClr val="tx1"/>
                </a:solidFill>
              </a:rPr>
              <a:t>Exact regret</a:t>
            </a:r>
            <a:endParaRPr lang="en-US" sz="1700" dirty="0"/>
          </a:p>
        </p:txBody>
      </p:sp>
      <p:sp>
        <p:nvSpPr>
          <p:cNvPr id="96" name="Text 92"/>
          <p:cNvSpPr txBox="1"/>
          <p:nvPr/>
        </p:nvSpPr>
        <p:spPr>
          <a:xfrm>
            <a:off x="7680960" y="3822192"/>
            <a:ext cx="3657600" cy="411480"/>
          </a:xfrm>
          <a:prstGeom prst="rect">
            <a:avLst/>
          </a:prstGeom>
          <a:noFill/>
          <a:ln/>
        </p:spPr>
        <p:txBody>
          <a:bodyPr wrap="square" lIns="0" tIns="0" rIns="0" bIns="0" rtlCol="0" anchor="ctr"/>
          <a:lstStyle/>
          <a:p>
            <a:pPr indent="0" marL="0">
              <a:buNone/>
            </a:pPr>
            <a:r>
              <a:rPr lang="en-US" sz="1400" dirty="0">
                <a:solidFill>
                  <a:schemeClr val="tx2"/>
                </a:solidFill>
              </a:rPr>
              <a:t>V*(s0) − V^π(s0), with Q* from value iteration</a:t>
            </a:r>
            <a:endParaRPr lang="en-US" sz="1400" dirty="0"/>
          </a:p>
        </p:txBody>
      </p:sp>
      <p:sp>
        <p:nvSpPr>
          <p:cNvPr id="97" name="20 seeds each"/>
          <p:cNvSpPr/>
          <p:nvPr/>
        </p:nvSpPr>
        <p:spPr>
          <a:xfrm>
            <a:off x="6766560" y="4663440"/>
            <a:ext cx="685800" cy="685800"/>
          </a:xfrm>
          <a:prstGeom prst="roundRect">
            <a:avLst>
              <a:gd name="adj" fmla="val 18000"/>
            </a:avLst>
          </a:prstGeom>
          <a:solidFill>
            <a:srgbClr val="009E73"/>
          </a:solidFill>
          <a:ln w="12700">
            <a:solidFill>
              <a:srgbClr val="009E73"/>
            </a:solidFill>
            <a:prstDash val="solid"/>
          </a:ln>
        </p:spPr>
      </p:sp>
      <p:pic>
        <p:nvPicPr>
          <p:cNvPr id="98" name="Image 2" descr="20 seeds each">    </p:cNvPr>
          <p:cNvPicPr>
            <a:picLocks noChangeAspect="1"/>
          </p:cNvPicPr>
          <p:nvPr/>
        </p:nvPicPr>
        <p:blipFill>
          <a:blip r:embed="rId3"/>
          <a:stretch>
            <a:fillRect/>
          </a:stretch>
        </p:blipFill>
        <p:spPr>
          <a:xfrm>
            <a:off x="6931152" y="4828032"/>
            <a:ext cx="356616" cy="356616"/>
          </a:xfrm>
          <a:prstGeom prst="rect">
            <a:avLst/>
          </a:prstGeom>
        </p:spPr>
      </p:pic>
      <p:sp>
        <p:nvSpPr>
          <p:cNvPr id="99" name="Text 94"/>
          <p:cNvSpPr txBox="1"/>
          <p:nvPr/>
        </p:nvSpPr>
        <p:spPr>
          <a:xfrm>
            <a:off x="7680960" y="4645152"/>
            <a:ext cx="3657600" cy="365760"/>
          </a:xfrm>
          <a:prstGeom prst="rect">
            <a:avLst/>
          </a:prstGeom>
          <a:noFill/>
          <a:ln/>
        </p:spPr>
        <p:txBody>
          <a:bodyPr wrap="square" lIns="0" tIns="0" rIns="0" bIns="0" rtlCol="0" anchor="ctr"/>
          <a:lstStyle/>
          <a:p>
            <a:pPr indent="0" marL="0">
              <a:buNone/>
            </a:pPr>
            <a:r>
              <a:rPr lang="en-US" sz="1700" b="1" dirty="0">
                <a:solidFill>
                  <a:schemeClr val="tx1"/>
                </a:solidFill>
              </a:rPr>
              <a:t>20 seeds each</a:t>
            </a:r>
            <a:endParaRPr lang="en-US" sz="1700" dirty="0"/>
          </a:p>
        </p:txBody>
      </p:sp>
      <p:sp>
        <p:nvSpPr>
          <p:cNvPr id="100" name="Text 95"/>
          <p:cNvSpPr txBox="1"/>
          <p:nvPr/>
        </p:nvSpPr>
        <p:spPr>
          <a:xfrm>
            <a:off x="7680960" y="5010912"/>
            <a:ext cx="3657600" cy="411480"/>
          </a:xfrm>
          <a:prstGeom prst="rect">
            <a:avLst/>
          </a:prstGeom>
          <a:noFill/>
          <a:ln/>
        </p:spPr>
        <p:txBody>
          <a:bodyPr wrap="square" lIns="0" tIns="0" rIns="0" bIns="0" rtlCol="0" anchor="ctr"/>
          <a:lstStyle/>
          <a:p>
            <a:pPr indent="0" marL="0">
              <a:buNone/>
            </a:pPr>
            <a:r>
              <a:rPr lang="en-US" sz="1400" dirty="0">
                <a:solidFill>
                  <a:schemeClr val="tx2"/>
                </a:solidFill>
              </a:rPr>
              <a:t>report spread, not one lucky run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56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1"/>
                </a:solidFill>
              </a:rPr>
              <a:t>Minimum requirement: both solve the class gridworld</a:t>
            </a:r>
            <a:endParaRPr lang="en-US" sz="3200" dirty="0"/>
          </a:p>
        </p:txBody>
      </p:sp>
      <p:pic>
        <p:nvPicPr>
          <p:cNvPr id="3" name="Image 0" descr="Learned values and greedy policies of SARSA and Q-learning next to the optimal Q*, deterministic and slippery gridworld">    </p:cNvPr>
          <p:cNvPicPr>
            <a:picLocks noChangeAspect="1"/>
          </p:cNvPicPr>
          <p:nvPr/>
        </p:nvPicPr>
        <p:blipFill>
          <a:blip r:embed="rId1"/>
          <a:stretch>
            <a:fillRect/>
          </a:stretch>
        </p:blipFill>
        <p:spPr>
          <a:xfrm>
            <a:off x="548640" y="1280160"/>
            <a:ext cx="7863840" cy="4545572"/>
          </a:xfrm>
          <a:prstGeom prst="rect">
            <a:avLst/>
          </a:prstGeom>
        </p:spPr>
      </p:pic>
      <p:sp>
        <p:nvSpPr>
          <p:cNvPr id="4" name="Text 1"/>
          <p:cNvSpPr txBox="1"/>
          <p:nvPr/>
        </p:nvSpPr>
        <p:spPr>
          <a:xfrm>
            <a:off x="8869680" y="1234440"/>
            <a:ext cx="2743200" cy="731520"/>
          </a:xfrm>
          <a:prstGeom prst="rect">
            <a:avLst/>
          </a:prstGeom>
          <a:noFill/>
          <a:ln/>
        </p:spPr>
        <p:txBody>
          <a:bodyPr wrap="square" lIns="0" tIns="0" rIns="0" bIns="0" rtlCol="0" anchor="b"/>
          <a:lstStyle/>
          <a:p>
            <a:pPr indent="0" marL="0">
              <a:buNone/>
            </a:pPr>
            <a:r>
              <a:rPr lang="en-US" sz="4000" b="1" dirty="0">
                <a:solidFill>
                  <a:srgbClr val="009E73"/>
                </a:solidFill>
              </a:rPr>
              <a:t>20 / 20</a:t>
            </a:r>
            <a:endParaRPr lang="en-US" sz="4000" dirty="0"/>
          </a:p>
        </p:txBody>
      </p:sp>
      <p:sp>
        <p:nvSpPr>
          <p:cNvPr id="5" name="Text 2"/>
          <p:cNvSpPr txBox="1"/>
          <p:nvPr/>
        </p:nvSpPr>
        <p:spPr>
          <a:xfrm>
            <a:off x="8869680" y="2011680"/>
            <a:ext cx="2743200" cy="640080"/>
          </a:xfrm>
          <a:prstGeom prst="rect">
            <a:avLst/>
          </a:prstGeom>
          <a:noFill/>
          <a:ln/>
        </p:spPr>
        <p:txBody>
          <a:bodyPr wrap="square" lIns="0" tIns="0" rIns="0" bIns="0" rtlCol="0" anchor="t"/>
          <a:lstStyle/>
          <a:p>
            <a:pPr indent="0" marL="0">
              <a:buNone/>
            </a:pPr>
            <a:r>
              <a:rPr lang="en-US" sz="1400" dirty="0">
                <a:solidFill>
                  <a:schemeClr val="tx2"/>
                </a:solidFill>
              </a:rPr>
              <a:t>seeds optimal for both on the deterministic grid</a:t>
            </a:r>
            <a:endParaRPr lang="en-US" sz="1400" dirty="0"/>
          </a:p>
        </p:txBody>
      </p:sp>
      <p:sp>
        <p:nvSpPr>
          <p:cNvPr id="6" name="Text 3"/>
          <p:cNvSpPr txBox="1"/>
          <p:nvPr/>
        </p:nvSpPr>
        <p:spPr>
          <a:xfrm>
            <a:off x="8869680" y="2880360"/>
            <a:ext cx="2743200" cy="731520"/>
          </a:xfrm>
          <a:prstGeom prst="rect">
            <a:avLst/>
          </a:prstGeom>
          <a:noFill/>
          <a:ln/>
        </p:spPr>
        <p:txBody>
          <a:bodyPr wrap="square" lIns="0" tIns="0" rIns="0" bIns="0" rtlCol="0" anchor="b"/>
          <a:lstStyle/>
          <a:p>
            <a:pPr indent="0" marL="0">
              <a:buNone/>
            </a:pPr>
            <a:r>
              <a:rPr lang="en-US" sz="4000" b="1" dirty="0">
                <a:solidFill>
                  <a:srgbClr val="D55E00"/>
                </a:solidFill>
              </a:rPr>
              <a:t>19 vs 15</a:t>
            </a:r>
            <a:endParaRPr lang="en-US" sz="4000" dirty="0"/>
          </a:p>
        </p:txBody>
      </p:sp>
      <p:sp>
        <p:nvSpPr>
          <p:cNvPr id="7" name="Text 4"/>
          <p:cNvSpPr txBox="1"/>
          <p:nvPr/>
        </p:nvSpPr>
        <p:spPr>
          <a:xfrm>
            <a:off x="8869680" y="3657600"/>
            <a:ext cx="2743200" cy="640080"/>
          </a:xfrm>
          <a:prstGeom prst="rect">
            <a:avLst/>
          </a:prstGeom>
          <a:noFill/>
          <a:ln/>
        </p:spPr>
        <p:txBody>
          <a:bodyPr wrap="square" lIns="0" tIns="0" rIns="0" bIns="0" rtlCol="0" anchor="t"/>
          <a:lstStyle/>
          <a:p>
            <a:pPr indent="0" marL="0">
              <a:buNone/>
            </a:pPr>
            <a:r>
              <a:rPr lang="en-US" sz="1400" dirty="0">
                <a:solidFill>
                  <a:schemeClr val="tx2"/>
                </a:solidFill>
              </a:rPr>
              <a:t>Q-learning vs SARSA seeds optimal, slippery grid, default settings</a:t>
            </a:r>
            <a:endParaRPr lang="en-US" sz="1400" dirty="0"/>
          </a:p>
        </p:txBody>
      </p:sp>
      <p:sp>
        <p:nvSpPr>
          <p:cNvPr id="8" name="Text 5"/>
          <p:cNvSpPr txBox="1"/>
          <p:nvPr/>
        </p:nvSpPr>
        <p:spPr>
          <a:xfrm>
            <a:off x="8869680" y="4526280"/>
            <a:ext cx="2743200" cy="731520"/>
          </a:xfrm>
          <a:prstGeom prst="rect">
            <a:avLst/>
          </a:prstGeom>
          <a:noFill/>
          <a:ln/>
        </p:spPr>
        <p:txBody>
          <a:bodyPr wrap="square" lIns="0" tIns="0" rIns="0" bIns="0" rtlCol="0" anchor="b"/>
          <a:lstStyle/>
          <a:p>
            <a:pPr indent="0" marL="0">
              <a:buNone/>
            </a:pPr>
            <a:r>
              <a:rPr lang="en-US" sz="4000" b="1" dirty="0">
                <a:solidFill>
                  <a:srgbClr val="0072B2"/>
                </a:solidFill>
              </a:rPr>
              <a:t>20 / 20</a:t>
            </a:r>
            <a:endParaRPr lang="en-US" sz="4000" dirty="0"/>
          </a:p>
        </p:txBody>
      </p:sp>
      <p:sp>
        <p:nvSpPr>
          <p:cNvPr id="9" name="Text 6"/>
          <p:cNvSpPr txBox="1"/>
          <p:nvPr/>
        </p:nvSpPr>
        <p:spPr>
          <a:xfrm>
            <a:off x="8869680" y="5303520"/>
            <a:ext cx="2743200" cy="640080"/>
          </a:xfrm>
          <a:prstGeom prst="rect">
            <a:avLst/>
          </a:prstGeom>
          <a:noFill/>
          <a:ln/>
        </p:spPr>
        <p:txBody>
          <a:bodyPr wrap="square" lIns="0" tIns="0" rIns="0" bIns="0" rtlCol="0" anchor="t"/>
          <a:lstStyle/>
          <a:p>
            <a:pPr indent="0" marL="0">
              <a:buNone/>
            </a:pPr>
            <a:r>
              <a:rPr lang="en-US" sz="1400" dirty="0">
                <a:solidFill>
                  <a:schemeClr val="tx2"/>
                </a:solidFill>
              </a:rPr>
              <a:t>both, once ε → 0 and α shrinks with visits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56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1"/>
                </a:solidFill>
              </a:rPr>
              <a:t>On-policy vs off-policy: the cliff</a:t>
            </a:r>
            <a:endParaRPr lang="en-US" sz="3200" dirty="0"/>
          </a:p>
        </p:txBody>
      </p:sp>
      <p:pic>
        <p:nvPicPr>
          <p:cNvPr id="3" name="Image 0" descr="SARSA learns a safe path, Q-learning the edge path; online return and regret over training">    </p:cNvPr>
          <p:cNvPicPr>
            <a:picLocks noChangeAspect="1"/>
          </p:cNvPicPr>
          <p:nvPr/>
        </p:nvPicPr>
        <p:blipFill>
          <a:blip r:embed="rId1"/>
          <a:stretch>
            <a:fillRect/>
          </a:stretch>
        </p:blipFill>
        <p:spPr>
          <a:xfrm>
            <a:off x="548640" y="1280160"/>
            <a:ext cx="7863840" cy="4493623"/>
          </a:xfrm>
          <a:prstGeom prst="rect">
            <a:avLst/>
          </a:prstGeom>
        </p:spPr>
      </p:pic>
      <p:sp>
        <p:nvSpPr>
          <p:cNvPr id="4" name="panel"/>
          <p:cNvSpPr/>
          <p:nvPr/>
        </p:nvSpPr>
        <p:spPr>
          <a:xfrm>
            <a:off x="8778240" y="1280160"/>
            <a:ext cx="2834640" cy="1920240"/>
          </a:xfrm>
          <a:prstGeom prst="roundRect">
            <a:avLst>
              <a:gd name="adj" fmla="val 5714"/>
            </a:avLst>
          </a:prstGeom>
          <a:solidFill>
            <a:srgbClr val="EEF2F6"/>
          </a:solidFill>
          <a:ln w="12700">
            <a:solidFill>
              <a:srgbClr val="EEF2F6"/>
            </a:solidFill>
            <a:prstDash val="solid"/>
          </a:ln>
        </p:spPr>
      </p:sp>
      <p:sp>
        <p:nvSpPr>
          <p:cNvPr id="5" name="SARSA"/>
          <p:cNvSpPr/>
          <p:nvPr/>
        </p:nvSpPr>
        <p:spPr>
          <a:xfrm>
            <a:off x="9006840" y="1508760"/>
            <a:ext cx="502920" cy="502920"/>
          </a:xfrm>
          <a:prstGeom prst="roundRect">
            <a:avLst>
              <a:gd name="adj" fmla="val 18000"/>
            </a:avLst>
          </a:prstGeom>
          <a:solidFill>
            <a:srgbClr val="0072B2"/>
          </a:solidFill>
          <a:ln w="12700">
            <a:solidFill>
              <a:srgbClr val="0072B2"/>
            </a:solidFill>
            <a:prstDash val="solid"/>
          </a:ln>
        </p:spPr>
      </p:sp>
      <p:pic>
        <p:nvPicPr>
          <p:cNvPr id="6" name="Image 1" descr="SARSA">    </p:cNvPr>
          <p:cNvPicPr>
            <a:picLocks noChangeAspect="1"/>
          </p:cNvPicPr>
          <p:nvPr/>
        </p:nvPicPr>
        <p:blipFill>
          <a:blip r:embed="rId2"/>
          <a:stretch>
            <a:fillRect/>
          </a:stretch>
        </p:blipFill>
        <p:spPr>
          <a:xfrm>
            <a:off x="9127541" y="1629461"/>
            <a:ext cx="261518" cy="261518"/>
          </a:xfrm>
          <a:prstGeom prst="rect">
            <a:avLst/>
          </a:prstGeom>
        </p:spPr>
      </p:pic>
      <p:sp>
        <p:nvSpPr>
          <p:cNvPr id="7" name="Text 3"/>
          <p:cNvSpPr txBox="1"/>
          <p:nvPr/>
        </p:nvSpPr>
        <p:spPr>
          <a:xfrm>
            <a:off x="9646920" y="1508760"/>
            <a:ext cx="1828800" cy="502920"/>
          </a:xfrm>
          <a:prstGeom prst="rect">
            <a:avLst/>
          </a:prstGeom>
          <a:noFill/>
          <a:ln/>
        </p:spPr>
        <p:txBody>
          <a:bodyPr wrap="square" lIns="0" tIns="0" rIns="0" bIns="0" rtlCol="0" anchor="ctr"/>
          <a:lstStyle/>
          <a:p>
            <a:pPr indent="0" marL="0">
              <a:buNone/>
            </a:pPr>
            <a:r>
              <a:rPr lang="en-US" sz="1900" b="1" dirty="0">
                <a:solidFill>
                  <a:srgbClr val="0072B2"/>
                </a:solidFill>
              </a:rPr>
              <a:t>SARSA</a:t>
            </a:r>
            <a:endParaRPr lang="en-US" sz="1900" dirty="0"/>
          </a:p>
        </p:txBody>
      </p:sp>
      <p:sp>
        <p:nvSpPr>
          <p:cNvPr id="8" name="Text 4"/>
          <p:cNvSpPr txBox="1"/>
          <p:nvPr/>
        </p:nvSpPr>
        <p:spPr>
          <a:xfrm>
            <a:off x="9006840" y="2148840"/>
            <a:ext cx="2514600" cy="914400"/>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Safe path · 17 steps</a:t>
            </a:r>
            <a:endParaRPr lang="en-US" sz="1400" dirty="0"/>
          </a:p>
          <a:p>
            <a:pPr indent="0" marL="0">
              <a:spcAft>
                <a:spcPts val="300"/>
              </a:spcAft>
              <a:buNone/>
            </a:pPr>
            <a:r>
              <a:rPr lang="en-US" sz="1400" dirty="0">
                <a:solidFill>
                  <a:schemeClr val="tx1"/>
                </a:solidFill>
              </a:rPr>
              <a:t>Return while exploring −25.8</a:t>
            </a:r>
            <a:endParaRPr lang="en-US" sz="1400" dirty="0"/>
          </a:p>
          <a:p>
            <a:pPr indent="0" marL="0">
              <a:spcAft>
                <a:spcPts val="300"/>
              </a:spcAft>
              <a:buNone/>
            </a:pPr>
            <a:r>
              <a:rPr lang="en-US" sz="1400" dirty="0">
                <a:solidFill>
                  <a:schemeClr val="tx1"/>
                </a:solidFill>
              </a:rPr>
              <a:t>Greedy policy optimal 0 / 20</a:t>
            </a:r>
            <a:endParaRPr lang="en-US" sz="1400" dirty="0"/>
          </a:p>
        </p:txBody>
      </p:sp>
      <p:sp>
        <p:nvSpPr>
          <p:cNvPr id="9" name="panel"/>
          <p:cNvSpPr/>
          <p:nvPr/>
        </p:nvSpPr>
        <p:spPr>
          <a:xfrm>
            <a:off x="8778240" y="3429000"/>
            <a:ext cx="2834640" cy="1920240"/>
          </a:xfrm>
          <a:prstGeom prst="roundRect">
            <a:avLst>
              <a:gd name="adj" fmla="val 5714"/>
            </a:avLst>
          </a:prstGeom>
          <a:solidFill>
            <a:srgbClr val="EEF2F6"/>
          </a:solidFill>
          <a:ln w="12700">
            <a:solidFill>
              <a:srgbClr val="EEF2F6"/>
            </a:solidFill>
            <a:prstDash val="solid"/>
          </a:ln>
        </p:spPr>
      </p:sp>
      <p:sp>
        <p:nvSpPr>
          <p:cNvPr id="10" name="Q-learning"/>
          <p:cNvSpPr/>
          <p:nvPr/>
        </p:nvSpPr>
        <p:spPr>
          <a:xfrm>
            <a:off x="9006840" y="3657600"/>
            <a:ext cx="502920" cy="502920"/>
          </a:xfrm>
          <a:prstGeom prst="roundRect">
            <a:avLst>
              <a:gd name="adj" fmla="val 18000"/>
            </a:avLst>
          </a:prstGeom>
          <a:solidFill>
            <a:srgbClr val="D55E00"/>
          </a:solidFill>
          <a:ln w="12700">
            <a:solidFill>
              <a:srgbClr val="D55E00"/>
            </a:solidFill>
            <a:prstDash val="solid"/>
          </a:ln>
        </p:spPr>
      </p:sp>
      <p:pic>
        <p:nvPicPr>
          <p:cNvPr id="11" name="Image 2" descr="Q-learning">    </p:cNvPr>
          <p:cNvPicPr>
            <a:picLocks noChangeAspect="1"/>
          </p:cNvPicPr>
          <p:nvPr/>
        </p:nvPicPr>
        <p:blipFill>
          <a:blip r:embed="rId3"/>
          <a:stretch>
            <a:fillRect/>
          </a:stretch>
        </p:blipFill>
        <p:spPr>
          <a:xfrm>
            <a:off x="9127541" y="3778301"/>
            <a:ext cx="261518" cy="261518"/>
          </a:xfrm>
          <a:prstGeom prst="rect">
            <a:avLst/>
          </a:prstGeom>
        </p:spPr>
      </p:pic>
      <p:sp>
        <p:nvSpPr>
          <p:cNvPr id="12" name="Text 7"/>
          <p:cNvSpPr txBox="1"/>
          <p:nvPr/>
        </p:nvSpPr>
        <p:spPr>
          <a:xfrm>
            <a:off x="9646920" y="3657600"/>
            <a:ext cx="1828800" cy="502920"/>
          </a:xfrm>
          <a:prstGeom prst="rect">
            <a:avLst/>
          </a:prstGeom>
          <a:noFill/>
          <a:ln/>
        </p:spPr>
        <p:txBody>
          <a:bodyPr wrap="square" lIns="0" tIns="0" rIns="0" bIns="0" rtlCol="0" anchor="ctr"/>
          <a:lstStyle/>
          <a:p>
            <a:pPr indent="0" marL="0">
              <a:buNone/>
            </a:pPr>
            <a:r>
              <a:rPr lang="en-US" sz="1900" b="1" dirty="0">
                <a:solidFill>
                  <a:srgbClr val="D55E00"/>
                </a:solidFill>
              </a:rPr>
              <a:t>Q-learning</a:t>
            </a:r>
            <a:endParaRPr lang="en-US" sz="1900" dirty="0"/>
          </a:p>
        </p:txBody>
      </p:sp>
      <p:sp>
        <p:nvSpPr>
          <p:cNvPr id="13" name="Text 8"/>
          <p:cNvSpPr txBox="1"/>
          <p:nvPr/>
        </p:nvSpPr>
        <p:spPr>
          <a:xfrm>
            <a:off x="9006840" y="4297680"/>
            <a:ext cx="2514600" cy="914400"/>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Edge path · 13 steps</a:t>
            </a:r>
            <a:endParaRPr lang="en-US" sz="1400" dirty="0"/>
          </a:p>
          <a:p>
            <a:pPr indent="0" marL="0">
              <a:spcAft>
                <a:spcPts val="300"/>
              </a:spcAft>
              <a:buNone/>
            </a:pPr>
            <a:r>
              <a:rPr lang="en-US" sz="1400" dirty="0">
                <a:solidFill>
                  <a:schemeClr val="tx1"/>
                </a:solidFill>
              </a:rPr>
              <a:t>Return while exploring −51.9</a:t>
            </a:r>
            <a:endParaRPr lang="en-US" sz="1400" dirty="0"/>
          </a:p>
          <a:p>
            <a:pPr indent="0" marL="0">
              <a:spcAft>
                <a:spcPts val="300"/>
              </a:spcAft>
              <a:buNone/>
            </a:pPr>
            <a:r>
              <a:rPr lang="en-US" sz="1400" dirty="0">
                <a:solidFill>
                  <a:schemeClr val="tx1"/>
                </a:solidFill>
              </a:rPr>
              <a:t>Greedy policy optimal 20 / 20</a:t>
            </a:r>
            <a:endParaRPr lang="en-US" sz="1400" dirty="0"/>
          </a:p>
        </p:txBody>
      </p:sp>
      <p:sp>
        <p:nvSpPr>
          <p:cNvPr id="14" name="Text 9"/>
          <p:cNvSpPr txBox="1"/>
          <p:nvPr/>
        </p:nvSpPr>
        <p:spPr>
          <a:xfrm>
            <a:off x="8778240" y="5623560"/>
            <a:ext cx="2834640" cy="685800"/>
          </a:xfrm>
          <a:prstGeom prst="rect">
            <a:avLst/>
          </a:prstGeom>
          <a:noFill/>
          <a:ln/>
        </p:spPr>
        <p:txBody>
          <a:bodyPr wrap="square" lIns="0" tIns="0" rIns="0" bIns="0" rtlCol="0" anchor="t"/>
          <a:lstStyle/>
          <a:p>
            <a:pPr indent="0" marL="0">
              <a:buNone/>
            </a:pPr>
            <a:r>
              <a:rPr lang="en-US" sz="1300" i="1" dirty="0">
                <a:solidFill>
                  <a:schemeClr val="tx2"/>
                </a:solidFill>
              </a:rPr>
              <a:t>SARSA learns the policy it follows, random steps included. Q-learning learns the greedy one.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56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1"/>
                </a:solidFill>
              </a:rPr>
              <a:t>Six algorithms, three environments</a:t>
            </a:r>
            <a:endParaRPr lang="en-US" sz="3200" dirty="0"/>
          </a:p>
        </p:txBody>
      </p:sp>
      <p:graphicFrame>
        <p:nvGraphicFramePr>
          <p:cNvPr id="3" name="Chart 0" descr=""/>
          <p:cNvGraphicFramePr/>
          <p:nvPr/>
        </p:nvGraphicFramePr>
        <p:xfrm>
          <a:off x="548640" y="123444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badge 1"/>
          <p:cNvSpPr/>
          <p:nvPr/>
        </p:nvSpPr>
        <p:spPr>
          <a:xfrm>
            <a:off x="8412480" y="1463040"/>
            <a:ext cx="548640" cy="548640"/>
          </a:xfrm>
          <a:prstGeom prst="roundRect">
            <a:avLst>
              <a:gd name="adj" fmla="val 18000"/>
            </a:avLst>
          </a:prstGeom>
          <a:solidFill>
            <a:srgbClr val="D55E00"/>
          </a:solidFill>
          <a:ln w="12700">
            <a:solidFill>
              <a:srgbClr val="D55E00"/>
            </a:solidFill>
            <a:prstDash val="solid"/>
          </a:ln>
        </p:spPr>
      </p:sp>
      <p:sp>
        <p:nvSpPr>
          <p:cNvPr id="5" name="Text 2"/>
          <p:cNvSpPr txBox="1"/>
          <p:nvPr/>
        </p:nvSpPr>
        <p:spPr>
          <a:xfrm>
            <a:off x="841248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3"/>
          <p:cNvSpPr txBox="1"/>
          <p:nvPr/>
        </p:nvSpPr>
        <p:spPr>
          <a:xfrm>
            <a:off x="9144000" y="1417320"/>
            <a:ext cx="2514600" cy="685800"/>
          </a:xfrm>
          <a:prstGeom prst="rect">
            <a:avLst/>
          </a:prstGeom>
          <a:noFill/>
          <a:ln/>
        </p:spPr>
        <p:txBody>
          <a:bodyPr wrap="square" lIns="0" tIns="0" rIns="0" bIns="0" rtlCol="0" anchor="t"/>
          <a:lstStyle/>
          <a:p>
            <a:pPr indent="0" marL="0">
              <a:buNone/>
            </a:pPr>
            <a:r>
              <a:rPr lang="en-US" sz="1600" b="1" dirty="0">
                <a:solidFill>
                  <a:schemeClr val="tx1"/>
                </a:solidFill>
              </a:rPr>
              <a:t>Q-learning is the most accurate everywhere</a:t>
            </a:r>
            <a:endParaRPr lang="en-US" sz="1600" dirty="0"/>
          </a:p>
        </p:txBody>
      </p:sp>
      <p:sp>
        <p:nvSpPr>
          <p:cNvPr id="7" name="Text 4"/>
          <p:cNvSpPr txBox="1"/>
          <p:nvPr/>
        </p:nvSpPr>
        <p:spPr>
          <a:xfrm>
            <a:off x="9144000" y="2121408"/>
            <a:ext cx="2514600" cy="548640"/>
          </a:xfrm>
          <a:prstGeom prst="rect">
            <a:avLst/>
          </a:prstGeom>
          <a:noFill/>
          <a:ln/>
        </p:spPr>
        <p:txBody>
          <a:bodyPr wrap="square" lIns="0" tIns="0" rIns="0" bIns="0" rtlCol="0" anchor="t"/>
          <a:lstStyle/>
          <a:p>
            <a:pPr indent="0" marL="0">
              <a:buNone/>
            </a:pPr>
            <a:r>
              <a:rPr lang="en-US" sz="1300" dirty="0">
                <a:solidFill>
                  <a:schemeClr val="tx2"/>
                </a:solidFill>
              </a:rPr>
              <a:t>≥ 94% optimal actions in all three</a:t>
            </a:r>
            <a:endParaRPr lang="en-US" sz="1300" dirty="0"/>
          </a:p>
        </p:txBody>
      </p:sp>
      <p:sp>
        <p:nvSpPr>
          <p:cNvPr id="8" name="badge 2"/>
          <p:cNvSpPr/>
          <p:nvPr/>
        </p:nvSpPr>
        <p:spPr>
          <a:xfrm>
            <a:off x="8412480" y="2971800"/>
            <a:ext cx="548640" cy="548640"/>
          </a:xfrm>
          <a:prstGeom prst="roundRect">
            <a:avLst>
              <a:gd name="adj" fmla="val 18000"/>
            </a:avLst>
          </a:prstGeom>
          <a:solidFill>
            <a:srgbClr val="009E73"/>
          </a:solidFill>
          <a:ln w="12700">
            <a:solidFill>
              <a:srgbClr val="009E73"/>
            </a:solidFill>
            <a:prstDash val="solid"/>
          </a:ln>
        </p:spPr>
      </p:sp>
      <p:sp>
        <p:nvSpPr>
          <p:cNvPr id="9" name="Text 6"/>
          <p:cNvSpPr txBox="1"/>
          <p:nvPr/>
        </p:nvSpPr>
        <p:spPr>
          <a:xfrm>
            <a:off x="8412480" y="2971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7"/>
          <p:cNvSpPr txBox="1"/>
          <p:nvPr/>
        </p:nvSpPr>
        <p:spPr>
          <a:xfrm>
            <a:off x="9144000" y="2926080"/>
            <a:ext cx="2514600" cy="685800"/>
          </a:xfrm>
          <a:prstGeom prst="rect">
            <a:avLst/>
          </a:prstGeom>
          <a:noFill/>
          <a:ln/>
        </p:spPr>
        <p:txBody>
          <a:bodyPr wrap="square" lIns="0" tIns="0" rIns="0" bIns="0" rtlCol="0" anchor="t"/>
          <a:lstStyle/>
          <a:p>
            <a:pPr indent="0" marL="0">
              <a:buNone/>
            </a:pPr>
            <a:r>
              <a:rPr lang="en-US" sz="1600" b="1" dirty="0">
                <a:solidFill>
                  <a:schemeClr val="tx1"/>
                </a:solidFill>
              </a:rPr>
              <a:t>Expected SARSA is the best on-policy method</a:t>
            </a:r>
            <a:endParaRPr lang="en-US" sz="1600" dirty="0"/>
          </a:p>
        </p:txBody>
      </p:sp>
      <p:sp>
        <p:nvSpPr>
          <p:cNvPr id="11" name="Text 8"/>
          <p:cNvSpPr txBox="1"/>
          <p:nvPr/>
        </p:nvSpPr>
        <p:spPr>
          <a:xfrm>
            <a:off x="9144000" y="3630168"/>
            <a:ext cx="2514600" cy="548640"/>
          </a:xfrm>
          <a:prstGeom prst="rect">
            <a:avLst/>
          </a:prstGeom>
          <a:noFill/>
          <a:ln/>
        </p:spPr>
        <p:txBody>
          <a:bodyPr wrap="square" lIns="0" tIns="0" rIns="0" bIns="0" rtlCol="0" anchor="t"/>
          <a:lstStyle/>
          <a:p>
            <a:pPr indent="0" marL="0">
              <a:buNone/>
            </a:pPr>
            <a:r>
              <a:rPr lang="en-US" sz="1300" dirty="0">
                <a:solidFill>
                  <a:schemeClr val="tx2"/>
                </a:solidFill>
              </a:rPr>
              <a:t>averaging over a' removes noise</a:t>
            </a:r>
            <a:endParaRPr lang="en-US" sz="1300" dirty="0"/>
          </a:p>
        </p:txBody>
      </p:sp>
      <p:sp>
        <p:nvSpPr>
          <p:cNvPr id="12" name="badge 3"/>
          <p:cNvSpPr/>
          <p:nvPr/>
        </p:nvSpPr>
        <p:spPr>
          <a:xfrm>
            <a:off x="8412480" y="4480560"/>
            <a:ext cx="548640" cy="548640"/>
          </a:xfrm>
          <a:prstGeom prst="roundRect">
            <a:avLst>
              <a:gd name="adj" fmla="val 18000"/>
            </a:avLst>
          </a:prstGeom>
          <a:solidFill>
            <a:srgbClr val="7A7A7A"/>
          </a:solidFill>
          <a:ln w="12700">
            <a:solidFill>
              <a:srgbClr val="7A7A7A"/>
            </a:solidFill>
            <a:prstDash val="solid"/>
          </a:ln>
        </p:spPr>
      </p:sp>
      <p:sp>
        <p:nvSpPr>
          <p:cNvPr id="13" name="Text 10"/>
          <p:cNvSpPr txBox="1"/>
          <p:nvPr/>
        </p:nvSpPr>
        <p:spPr>
          <a:xfrm>
            <a:off x="8412480" y="4480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1"/>
          <p:cNvSpPr txBox="1"/>
          <p:nvPr/>
        </p:nvSpPr>
        <p:spPr>
          <a:xfrm>
            <a:off x="9144000" y="4434840"/>
            <a:ext cx="2514600" cy="685800"/>
          </a:xfrm>
          <a:prstGeom prst="rect">
            <a:avLst/>
          </a:prstGeom>
          <a:noFill/>
          <a:ln/>
        </p:spPr>
        <p:txBody>
          <a:bodyPr wrap="square" lIns="0" tIns="0" rIns="0" bIns="0" rtlCol="0" anchor="t"/>
          <a:lstStyle/>
          <a:p>
            <a:pPr indent="0" marL="0">
              <a:buNone/>
            </a:pPr>
            <a:r>
              <a:rPr lang="en-US" sz="1600" b="1" dirty="0">
                <a:solidFill>
                  <a:schemeClr val="tx1"/>
                </a:solidFill>
              </a:rPr>
              <a:t>Monte Carlo fails in Cliff Walking</a:t>
            </a:r>
            <a:endParaRPr lang="en-US" sz="1600" dirty="0"/>
          </a:p>
        </p:txBody>
      </p:sp>
      <p:sp>
        <p:nvSpPr>
          <p:cNvPr id="15" name="Text 12"/>
          <p:cNvSpPr txBox="1"/>
          <p:nvPr/>
        </p:nvSpPr>
        <p:spPr>
          <a:xfrm>
            <a:off x="9144000" y="5138928"/>
            <a:ext cx="2514600" cy="548640"/>
          </a:xfrm>
          <a:prstGeom prst="rect">
            <a:avLst/>
          </a:prstGeom>
          <a:noFill/>
          <a:ln/>
        </p:spPr>
        <p:txBody>
          <a:bodyPr wrap="square" lIns="0" tIns="0" rIns="0" bIns="0" rtlCol="0" anchor="t"/>
          <a:lstStyle/>
          <a:p>
            <a:pPr indent="0" marL="0">
              <a:buNone/>
            </a:pPr>
            <a:r>
              <a:rPr lang="en-US" sz="1300" dirty="0">
                <a:solidFill>
                  <a:schemeClr val="tx2"/>
                </a:solidFill>
              </a:rPr>
              <a:t>it needs episodes that end, and they don't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56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1"/>
                </a:solidFill>
              </a:rPr>
              <a:t>Optuna: tuning helps every algorithm</a:t>
            </a:r>
            <a:endParaRPr lang="en-US" sz="3200" dirty="0"/>
          </a:p>
        </p:txBody>
      </p:sp>
      <p:sp>
        <p:nvSpPr>
          <p:cNvPr id="3" name="Text 1"/>
          <p:cNvSpPr txBox="1"/>
          <p:nvPr/>
        </p:nvSpPr>
        <p:spPr>
          <a:xfrm>
            <a:off x="548640" y="1143000"/>
            <a:ext cx="3474720" cy="731520"/>
          </a:xfrm>
          <a:prstGeom prst="rect">
            <a:avLst/>
          </a:prstGeom>
          <a:noFill/>
          <a:ln/>
        </p:spPr>
        <p:txBody>
          <a:bodyPr wrap="square" lIns="0" tIns="0" rIns="0" bIns="0" rtlCol="0" anchor="b"/>
          <a:lstStyle/>
          <a:p>
            <a:pPr indent="0" marL="0">
              <a:buNone/>
            </a:pPr>
            <a:r>
              <a:rPr lang="en-US" sz="4000" b="1" dirty="0">
                <a:solidFill>
                  <a:srgbClr val="D55E00"/>
                </a:solidFill>
              </a:rPr>
              <a:t>12 / 12</a:t>
            </a:r>
            <a:endParaRPr lang="en-US" sz="4000" dirty="0"/>
          </a:p>
        </p:txBody>
      </p:sp>
      <p:sp>
        <p:nvSpPr>
          <p:cNvPr id="4" name="Text 2"/>
          <p:cNvSpPr txBox="1"/>
          <p:nvPr/>
        </p:nvSpPr>
        <p:spPr>
          <a:xfrm>
            <a:off x="548640" y="1920240"/>
            <a:ext cx="3474720" cy="640080"/>
          </a:xfrm>
          <a:prstGeom prst="rect">
            <a:avLst/>
          </a:prstGeom>
          <a:noFill/>
          <a:ln/>
        </p:spPr>
        <p:txBody>
          <a:bodyPr wrap="square" lIns="0" tIns="0" rIns="0" bIns="0" rtlCol="0" anchor="t"/>
          <a:lstStyle/>
          <a:p>
            <a:pPr indent="0" marL="0">
              <a:buNone/>
            </a:pPr>
            <a:r>
              <a:rPr lang="en-US" sz="1400" dirty="0">
                <a:solidFill>
                  <a:schemeClr val="tx2"/>
                </a:solidFill>
              </a:rPr>
              <a:t>studies learn significantly faster (p &lt; 0.05, 20 held-out seeds)</a:t>
            </a:r>
            <a:endParaRPr lang="en-US" sz="1400" dirty="0"/>
          </a:p>
        </p:txBody>
      </p:sp>
      <p:sp>
        <p:nvSpPr>
          <p:cNvPr id="5" name="Text 3"/>
          <p:cNvSpPr txBox="1"/>
          <p:nvPr/>
        </p:nvSpPr>
        <p:spPr>
          <a:xfrm>
            <a:off x="4389120" y="1143000"/>
            <a:ext cx="3474720" cy="731520"/>
          </a:xfrm>
          <a:prstGeom prst="rect">
            <a:avLst/>
          </a:prstGeom>
          <a:noFill/>
          <a:ln/>
        </p:spPr>
        <p:txBody>
          <a:bodyPr wrap="square" lIns="0" tIns="0" rIns="0" bIns="0" rtlCol="0" anchor="b"/>
          <a:lstStyle/>
          <a:p>
            <a:pPr indent="0" marL="0">
              <a:buNone/>
            </a:pPr>
            <a:r>
              <a:rPr lang="en-US" sz="4000" b="1" dirty="0">
                <a:solidFill>
                  <a:srgbClr val="009E73"/>
                </a:solidFill>
              </a:rPr>
              <a:t>0 → 18</a:t>
            </a:r>
            <a:endParaRPr lang="en-US" sz="4000" dirty="0"/>
          </a:p>
        </p:txBody>
      </p:sp>
      <p:sp>
        <p:nvSpPr>
          <p:cNvPr id="6" name="Text 4"/>
          <p:cNvSpPr txBox="1"/>
          <p:nvPr/>
        </p:nvSpPr>
        <p:spPr>
          <a:xfrm>
            <a:off x="4389120" y="1920240"/>
            <a:ext cx="3474720" cy="640080"/>
          </a:xfrm>
          <a:prstGeom prst="rect">
            <a:avLst/>
          </a:prstGeom>
          <a:noFill/>
          <a:ln/>
        </p:spPr>
        <p:txBody>
          <a:bodyPr wrap="square" lIns="0" tIns="0" rIns="0" bIns="0" rtlCol="0" anchor="t"/>
          <a:lstStyle/>
          <a:p>
            <a:pPr indent="0" marL="0">
              <a:buNone/>
            </a:pPr>
            <a:r>
              <a:rPr lang="en-US" sz="1400" dirty="0">
                <a:solidFill>
                  <a:schemeClr val="tx2"/>
                </a:solidFill>
              </a:rPr>
              <a:t>seeds where Expected SARSA finds the optimal cliff path</a:t>
            </a:r>
            <a:endParaRPr lang="en-US" sz="1400" dirty="0"/>
          </a:p>
        </p:txBody>
      </p:sp>
      <p:sp>
        <p:nvSpPr>
          <p:cNvPr id="7" name="Text 5"/>
          <p:cNvSpPr txBox="1"/>
          <p:nvPr/>
        </p:nvSpPr>
        <p:spPr>
          <a:xfrm>
            <a:off x="8229600" y="1143000"/>
            <a:ext cx="3383280" cy="731520"/>
          </a:xfrm>
          <a:prstGeom prst="rect">
            <a:avLst/>
          </a:prstGeom>
          <a:noFill/>
          <a:ln/>
        </p:spPr>
        <p:txBody>
          <a:bodyPr wrap="square" lIns="0" tIns="0" rIns="0" bIns="0" rtlCol="0" anchor="b"/>
          <a:lstStyle/>
          <a:p>
            <a:pPr indent="0" marL="0">
              <a:buNone/>
            </a:pPr>
            <a:r>
              <a:rPr lang="en-US" sz="4000" b="1" dirty="0">
                <a:solidFill>
                  <a:srgbClr val="0072B2"/>
                </a:solidFill>
              </a:rPr>
              <a:t>8 / 10</a:t>
            </a:r>
            <a:endParaRPr lang="en-US" sz="4000" dirty="0"/>
          </a:p>
        </p:txBody>
      </p:sp>
      <p:sp>
        <p:nvSpPr>
          <p:cNvPr id="8" name="Text 6"/>
          <p:cNvSpPr txBox="1"/>
          <p:nvPr/>
        </p:nvSpPr>
        <p:spPr>
          <a:xfrm>
            <a:off x="8229600" y="1920240"/>
            <a:ext cx="3383280" cy="640080"/>
          </a:xfrm>
          <a:prstGeom prst="rect">
            <a:avLst/>
          </a:prstGeom>
          <a:noFill/>
          <a:ln/>
        </p:spPr>
        <p:txBody>
          <a:bodyPr wrap="square" lIns="0" tIns="0" rIns="0" bIns="0" rtlCol="0" anchor="t"/>
          <a:lstStyle/>
          <a:p>
            <a:pPr indent="0" marL="0">
              <a:buNone/>
            </a:pPr>
            <a:r>
              <a:rPr lang="en-US" sz="1400" dirty="0">
                <a:solidFill>
                  <a:schemeClr val="tx2"/>
                </a:solidFill>
              </a:rPr>
              <a:t>TD settings that picked a shrinking α (Robbins–Monro) on their own</a:t>
            </a:r>
            <a:endParaRPr lang="en-US" sz="1400" dirty="0"/>
          </a:p>
        </p:txBody>
      </p:sp>
      <p:graphicFrame>
        <p:nvGraphicFramePr>
          <p:cNvPr id="9" name="Chart 0" descr=""/>
          <p:cNvGraphicFramePr/>
          <p:nvPr/>
        </p:nvGraphicFramePr>
        <p:xfrm>
          <a:off x="548640" y="2880360"/>
          <a:ext cx="5440680" cy="3337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6172200" y="2880360"/>
          <a:ext cx="5440680" cy="33375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56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1"/>
                </a:solidFill>
              </a:rPr>
              <a:t>What makes training work</a:t>
            </a:r>
            <a:endParaRPr lang="en-US" sz="3200" dirty="0"/>
          </a:p>
        </p:txBody>
      </p:sp>
      <p:sp>
        <p:nvSpPr>
          <p:cNvPr id="3" name="panel"/>
          <p:cNvSpPr/>
          <p:nvPr/>
        </p:nvSpPr>
        <p:spPr>
          <a:xfrm>
            <a:off x="548640" y="1280160"/>
            <a:ext cx="3566160" cy="1874520"/>
          </a:xfrm>
          <a:prstGeom prst="roundRect">
            <a:avLst>
              <a:gd name="adj" fmla="val 5854"/>
            </a:avLst>
          </a:prstGeom>
          <a:solidFill>
            <a:srgbClr val="EEF2F6"/>
          </a:solidFill>
          <a:ln w="12700">
            <a:solidFill>
              <a:srgbClr val="EEF2F6"/>
            </a:solidFill>
            <a:prstDash val="solid"/>
          </a:ln>
        </p:spPr>
      </p:sp>
      <p:sp>
        <p:nvSpPr>
          <p:cNvPr id="4" name="Explore, then stop"/>
          <p:cNvSpPr/>
          <p:nvPr/>
        </p:nvSpPr>
        <p:spPr>
          <a:xfrm>
            <a:off x="822960" y="1508760"/>
            <a:ext cx="548640" cy="548640"/>
          </a:xfrm>
          <a:prstGeom prst="roundRect">
            <a:avLst>
              <a:gd name="adj" fmla="val 18000"/>
            </a:avLst>
          </a:prstGeom>
          <a:solidFill>
            <a:srgbClr val="009E73"/>
          </a:solidFill>
          <a:ln w="12700">
            <a:solidFill>
              <a:srgbClr val="009E73"/>
            </a:solidFill>
            <a:prstDash val="solid"/>
          </a:ln>
        </p:spPr>
      </p:sp>
      <p:pic>
        <p:nvPicPr>
          <p:cNvPr id="5" name="Image 0" descr="Explore, then stop">    </p:cNvPr>
          <p:cNvPicPr>
            <a:picLocks noChangeAspect="1"/>
          </p:cNvPicPr>
          <p:nvPr/>
        </p:nvPicPr>
        <p:blipFill>
          <a:blip r:embed="rId1"/>
          <a:stretch>
            <a:fillRect/>
          </a:stretch>
        </p:blipFill>
        <p:spPr>
          <a:xfrm>
            <a:off x="954634" y="1640434"/>
            <a:ext cx="285293" cy="285293"/>
          </a:xfrm>
          <a:prstGeom prst="rect">
            <a:avLst/>
          </a:prstGeom>
        </p:spPr>
      </p:pic>
      <p:sp>
        <p:nvSpPr>
          <p:cNvPr id="6" name="Text 3"/>
          <p:cNvSpPr txBox="1"/>
          <p:nvPr/>
        </p:nvSpPr>
        <p:spPr>
          <a:xfrm>
            <a:off x="1508760" y="1508760"/>
            <a:ext cx="2468880" cy="548640"/>
          </a:xfrm>
          <a:prstGeom prst="rect">
            <a:avLst/>
          </a:prstGeom>
          <a:noFill/>
          <a:ln/>
        </p:spPr>
        <p:txBody>
          <a:bodyPr wrap="square" lIns="0" tIns="0" rIns="0" bIns="0" rtlCol="0" anchor="ctr"/>
          <a:lstStyle/>
          <a:p>
            <a:pPr indent="0" marL="0">
              <a:buNone/>
            </a:pPr>
            <a:r>
              <a:rPr lang="en-US" sz="1700" b="1" dirty="0">
                <a:solidFill>
                  <a:schemeClr val="tx1"/>
                </a:solidFill>
              </a:rPr>
              <a:t>Explore, then stop</a:t>
            </a:r>
            <a:endParaRPr lang="en-US" sz="1700" dirty="0"/>
          </a:p>
        </p:txBody>
      </p:sp>
      <p:sp>
        <p:nvSpPr>
          <p:cNvPr id="7" name="Text 4"/>
          <p:cNvSpPr txBox="1"/>
          <p:nvPr/>
        </p:nvSpPr>
        <p:spPr>
          <a:xfrm>
            <a:off x="822960" y="2194560"/>
            <a:ext cx="3063240" cy="868680"/>
          </a:xfrm>
          <a:prstGeom prst="rect">
            <a:avLst/>
          </a:prstGeom>
          <a:noFill/>
          <a:ln/>
        </p:spPr>
        <p:txBody>
          <a:bodyPr wrap="square" lIns="0" tIns="0" rIns="0" bIns="0" rtlCol="0" anchor="t"/>
          <a:lstStyle/>
          <a:p>
            <a:pPr indent="0" marL="0">
              <a:buNone/>
            </a:pPr>
            <a:r>
              <a:rPr lang="en-US" sz="1400" dirty="0">
                <a:solidFill>
                  <a:schemeClr val="tx2"/>
                </a:solidFill>
              </a:rPr>
              <a:t>On-policy methods only reach the optimum when ε → 0 (GLIE).</a:t>
            </a:r>
            <a:endParaRPr lang="en-US" sz="1400" dirty="0"/>
          </a:p>
        </p:txBody>
      </p:sp>
      <p:sp>
        <p:nvSpPr>
          <p:cNvPr id="8" name="panel"/>
          <p:cNvSpPr/>
          <p:nvPr/>
        </p:nvSpPr>
        <p:spPr>
          <a:xfrm>
            <a:off x="4297680" y="1280160"/>
            <a:ext cx="3566160" cy="1874520"/>
          </a:xfrm>
          <a:prstGeom prst="roundRect">
            <a:avLst>
              <a:gd name="adj" fmla="val 5854"/>
            </a:avLst>
          </a:prstGeom>
          <a:solidFill>
            <a:srgbClr val="EEF2F6"/>
          </a:solidFill>
          <a:ln w="12700">
            <a:solidFill>
              <a:srgbClr val="EEF2F6"/>
            </a:solidFill>
            <a:prstDash val="solid"/>
          </a:ln>
        </p:spPr>
      </p:sp>
      <p:sp>
        <p:nvSpPr>
          <p:cNvPr id="9" name="Shrink the steps"/>
          <p:cNvSpPr/>
          <p:nvPr/>
        </p:nvSpPr>
        <p:spPr>
          <a:xfrm>
            <a:off x="4572000" y="1508760"/>
            <a:ext cx="548640" cy="548640"/>
          </a:xfrm>
          <a:prstGeom prst="roundRect">
            <a:avLst>
              <a:gd name="adj" fmla="val 18000"/>
            </a:avLst>
          </a:prstGeom>
          <a:solidFill>
            <a:srgbClr val="0072B2"/>
          </a:solidFill>
          <a:ln w="12700">
            <a:solidFill>
              <a:srgbClr val="0072B2"/>
            </a:solidFill>
            <a:prstDash val="solid"/>
          </a:ln>
        </p:spPr>
      </p:sp>
      <p:pic>
        <p:nvPicPr>
          <p:cNvPr id="10" name="Image 1" descr="Shrink the steps">    </p:cNvPr>
          <p:cNvPicPr>
            <a:picLocks noChangeAspect="1"/>
          </p:cNvPicPr>
          <p:nvPr/>
        </p:nvPicPr>
        <p:blipFill>
          <a:blip r:embed="rId2"/>
          <a:stretch>
            <a:fillRect/>
          </a:stretch>
        </p:blipFill>
        <p:spPr>
          <a:xfrm>
            <a:off x="4703674" y="1640434"/>
            <a:ext cx="285293" cy="285293"/>
          </a:xfrm>
          <a:prstGeom prst="rect">
            <a:avLst/>
          </a:prstGeom>
        </p:spPr>
      </p:pic>
      <p:sp>
        <p:nvSpPr>
          <p:cNvPr id="11" name="Text 7"/>
          <p:cNvSpPr txBox="1"/>
          <p:nvPr/>
        </p:nvSpPr>
        <p:spPr>
          <a:xfrm>
            <a:off x="5257800" y="1508760"/>
            <a:ext cx="2468880" cy="548640"/>
          </a:xfrm>
          <a:prstGeom prst="rect">
            <a:avLst/>
          </a:prstGeom>
          <a:noFill/>
          <a:ln/>
        </p:spPr>
        <p:txBody>
          <a:bodyPr wrap="square" lIns="0" tIns="0" rIns="0" bIns="0" rtlCol="0" anchor="ctr"/>
          <a:lstStyle/>
          <a:p>
            <a:pPr indent="0" marL="0">
              <a:buNone/>
            </a:pPr>
            <a:r>
              <a:rPr lang="en-US" sz="1700" b="1" dirty="0">
                <a:solidFill>
                  <a:schemeClr val="tx1"/>
                </a:solidFill>
              </a:rPr>
              <a:t>Shrink the steps</a:t>
            </a:r>
            <a:endParaRPr lang="en-US" sz="1700" dirty="0"/>
          </a:p>
        </p:txBody>
      </p:sp>
      <p:sp>
        <p:nvSpPr>
          <p:cNvPr id="12" name="Text 8"/>
          <p:cNvSpPr txBox="1"/>
          <p:nvPr/>
        </p:nvSpPr>
        <p:spPr>
          <a:xfrm>
            <a:off x="4572000" y="2194560"/>
            <a:ext cx="3063240" cy="868680"/>
          </a:xfrm>
          <a:prstGeom prst="rect">
            <a:avLst/>
          </a:prstGeom>
          <a:noFill/>
          <a:ln/>
        </p:spPr>
        <p:txBody>
          <a:bodyPr wrap="square" lIns="0" tIns="0" rIns="0" bIns="0" rtlCol="0" anchor="t"/>
          <a:lstStyle/>
          <a:p>
            <a:pPr indent="0" marL="0">
              <a:buNone/>
            </a:pPr>
            <a:r>
              <a:rPr lang="en-US" sz="1400" dirty="0">
                <a:solidFill>
                  <a:schemeClr val="tx2"/>
                </a:solidFill>
              </a:rPr>
              <a:t>α / (1 + k·N(s,a)) lets values settle even with random moves.</a:t>
            </a:r>
            <a:endParaRPr lang="en-US" sz="1400" dirty="0"/>
          </a:p>
        </p:txBody>
      </p:sp>
      <p:sp>
        <p:nvSpPr>
          <p:cNvPr id="13" name="panel"/>
          <p:cNvSpPr/>
          <p:nvPr/>
        </p:nvSpPr>
        <p:spPr>
          <a:xfrm>
            <a:off x="8046720" y="1280160"/>
            <a:ext cx="3566160" cy="1874520"/>
          </a:xfrm>
          <a:prstGeom prst="roundRect">
            <a:avLst>
              <a:gd name="adj" fmla="val 5854"/>
            </a:avLst>
          </a:prstGeom>
          <a:solidFill>
            <a:srgbClr val="EEF2F6"/>
          </a:solidFill>
          <a:ln w="12700">
            <a:solidFill>
              <a:srgbClr val="EEF2F6"/>
            </a:solidFill>
            <a:prstDash val="solid"/>
          </a:ln>
        </p:spPr>
      </p:sp>
      <p:sp>
        <p:nvSpPr>
          <p:cNvPr id="14" name="Forget bad early returns"/>
          <p:cNvSpPr/>
          <p:nvPr/>
        </p:nvSpPr>
        <p:spPr>
          <a:xfrm>
            <a:off x="8321040" y="1508760"/>
            <a:ext cx="548640" cy="548640"/>
          </a:xfrm>
          <a:prstGeom prst="roundRect">
            <a:avLst>
              <a:gd name="adj" fmla="val 18000"/>
            </a:avLst>
          </a:prstGeom>
          <a:solidFill>
            <a:srgbClr val="D55E00"/>
          </a:solidFill>
          <a:ln w="12700">
            <a:solidFill>
              <a:srgbClr val="D55E00"/>
            </a:solidFill>
            <a:prstDash val="solid"/>
          </a:ln>
        </p:spPr>
      </p:sp>
      <p:pic>
        <p:nvPicPr>
          <p:cNvPr id="15" name="Image 2" descr="Forget bad early returns">    </p:cNvPr>
          <p:cNvPicPr>
            <a:picLocks noChangeAspect="1"/>
          </p:cNvPicPr>
          <p:nvPr/>
        </p:nvPicPr>
        <p:blipFill>
          <a:blip r:embed="rId3"/>
          <a:stretch>
            <a:fillRect/>
          </a:stretch>
        </p:blipFill>
        <p:spPr>
          <a:xfrm>
            <a:off x="8452714" y="1640434"/>
            <a:ext cx="285293" cy="285293"/>
          </a:xfrm>
          <a:prstGeom prst="rect">
            <a:avLst/>
          </a:prstGeom>
        </p:spPr>
      </p:pic>
      <p:sp>
        <p:nvSpPr>
          <p:cNvPr id="16" name="Text 11"/>
          <p:cNvSpPr txBox="1"/>
          <p:nvPr/>
        </p:nvSpPr>
        <p:spPr>
          <a:xfrm>
            <a:off x="9006840" y="1508760"/>
            <a:ext cx="2468880" cy="548640"/>
          </a:xfrm>
          <a:prstGeom prst="rect">
            <a:avLst/>
          </a:prstGeom>
          <a:noFill/>
          <a:ln/>
        </p:spPr>
        <p:txBody>
          <a:bodyPr wrap="square" lIns="0" tIns="0" rIns="0" bIns="0" rtlCol="0" anchor="ctr"/>
          <a:lstStyle/>
          <a:p>
            <a:pPr indent="0" marL="0">
              <a:buNone/>
            </a:pPr>
            <a:r>
              <a:rPr lang="en-US" sz="1700" b="1" dirty="0">
                <a:solidFill>
                  <a:schemeClr val="tx1"/>
                </a:solidFill>
              </a:rPr>
              <a:t>Forget bad early returns</a:t>
            </a:r>
            <a:endParaRPr lang="en-US" sz="1700" dirty="0"/>
          </a:p>
        </p:txBody>
      </p:sp>
      <p:sp>
        <p:nvSpPr>
          <p:cNvPr id="17" name="Text 12"/>
          <p:cNvSpPr txBox="1"/>
          <p:nvPr/>
        </p:nvSpPr>
        <p:spPr>
          <a:xfrm>
            <a:off x="8321040" y="2194560"/>
            <a:ext cx="3063240" cy="868680"/>
          </a:xfrm>
          <a:prstGeom prst="rect">
            <a:avLst/>
          </a:prstGeom>
          <a:noFill/>
          <a:ln/>
        </p:spPr>
        <p:txBody>
          <a:bodyPr wrap="square" lIns="0" tIns="0" rIns="0" bIns="0" rtlCol="0" anchor="t"/>
          <a:lstStyle/>
          <a:p>
            <a:pPr indent="0" marL="0">
              <a:buNone/>
            </a:pPr>
            <a:r>
              <a:rPr lang="en-US" sz="1400" dirty="0">
                <a:solidFill>
                  <a:schemeClr val="tx2"/>
                </a:solidFill>
              </a:rPr>
              <a:t>MC with 1/N got stuck in 14/20 seeds at −100. A constant α: 0/20.</a:t>
            </a:r>
            <a:endParaRPr lang="en-US" sz="1400" dirty="0"/>
          </a:p>
        </p:txBody>
      </p:sp>
      <p:pic>
        <p:nvPicPr>
          <p:cNvPr id="18" name="Image 3" descr="Per-seed returns of the variants in Cliff Walking, and Double Q estimates collapsing to the -100 plateau">    </p:cNvPr>
          <p:cNvPicPr>
            <a:picLocks noChangeAspect="1"/>
          </p:cNvPicPr>
          <p:nvPr/>
        </p:nvPicPr>
        <p:blipFill>
          <a:blip r:embed="rId4"/>
          <a:stretch>
            <a:fillRect/>
          </a:stretch>
        </p:blipFill>
        <p:spPr>
          <a:xfrm>
            <a:off x="1709928" y="3383280"/>
            <a:ext cx="8778240" cy="292608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56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bg1"/>
                </a:solidFill>
              </a:rPr>
              <a:t>Takeaways</a:t>
            </a:r>
            <a:endParaRPr lang="en-US" sz="3200" dirty="0"/>
          </a:p>
        </p:txBody>
      </p:sp>
      <p:sp>
        <p:nvSpPr>
          <p:cNvPr id="3" name="badge 1"/>
          <p:cNvSpPr/>
          <p:nvPr/>
        </p:nvSpPr>
        <p:spPr>
          <a:xfrm>
            <a:off x="548640" y="1417320"/>
            <a:ext cx="685800" cy="685800"/>
          </a:xfrm>
          <a:prstGeom prst="roundRect">
            <a:avLst>
              <a:gd name="adj" fmla="val 18000"/>
            </a:avLst>
          </a:prstGeom>
          <a:solidFill>
            <a:srgbClr val="009E73"/>
          </a:solidFill>
          <a:ln w="12700">
            <a:solidFill>
              <a:srgbClr val="009E73"/>
            </a:solidFill>
            <a:prstDash val="solid"/>
          </a:ln>
        </p:spPr>
      </p:sp>
      <p:sp>
        <p:nvSpPr>
          <p:cNvPr id="4" name="Text 2"/>
          <p:cNvSpPr txBox="1"/>
          <p:nvPr/>
        </p:nvSpPr>
        <p:spPr>
          <a:xfrm>
            <a:off x="548640" y="141732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rPr>
              <a:t>1</a:t>
            </a:r>
            <a:endParaRPr lang="en-US" sz="2200" dirty="0"/>
          </a:p>
        </p:txBody>
      </p:sp>
      <p:sp>
        <p:nvSpPr>
          <p:cNvPr id="5" name="Text 3"/>
          <p:cNvSpPr txBox="1"/>
          <p:nvPr/>
        </p:nvSpPr>
        <p:spPr>
          <a:xfrm>
            <a:off x="1508760" y="1417320"/>
            <a:ext cx="6035040" cy="685800"/>
          </a:xfrm>
          <a:prstGeom prst="rect">
            <a:avLst/>
          </a:prstGeom>
          <a:noFill/>
          <a:ln/>
        </p:spPr>
        <p:txBody>
          <a:bodyPr wrap="square" lIns="0" tIns="0" rIns="0" bIns="0" rtlCol="0" anchor="ctr"/>
          <a:lstStyle/>
          <a:p>
            <a:pPr indent="0" marL="0">
              <a:buNone/>
            </a:pPr>
            <a:r>
              <a:rPr lang="en-US" sz="1900" dirty="0">
                <a:solidFill>
                  <a:srgbClr val="FFFFFF"/>
                </a:solidFill>
              </a:rPr>
              <a:t>SARSA and Q-learning both solve the class gridworld, deterministic and slippery</a:t>
            </a:r>
            <a:endParaRPr lang="en-US" sz="1900" dirty="0"/>
          </a:p>
        </p:txBody>
      </p:sp>
      <p:sp>
        <p:nvSpPr>
          <p:cNvPr id="6" name="badge 2"/>
          <p:cNvSpPr/>
          <p:nvPr/>
        </p:nvSpPr>
        <p:spPr>
          <a:xfrm>
            <a:off x="548640" y="2468880"/>
            <a:ext cx="685800" cy="685800"/>
          </a:xfrm>
          <a:prstGeom prst="roundRect">
            <a:avLst>
              <a:gd name="adj" fmla="val 18000"/>
            </a:avLst>
          </a:prstGeom>
          <a:solidFill>
            <a:srgbClr val="D55E00"/>
          </a:solidFill>
          <a:ln w="12700">
            <a:solidFill>
              <a:srgbClr val="D55E00"/>
            </a:solidFill>
            <a:prstDash val="solid"/>
          </a:ln>
        </p:spPr>
      </p:sp>
      <p:sp>
        <p:nvSpPr>
          <p:cNvPr id="7" name="Text 5"/>
          <p:cNvSpPr txBox="1"/>
          <p:nvPr/>
        </p:nvSpPr>
        <p:spPr>
          <a:xfrm>
            <a:off x="548640" y="246888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rPr>
              <a:t>2</a:t>
            </a:r>
            <a:endParaRPr lang="en-US" sz="2200" dirty="0"/>
          </a:p>
        </p:txBody>
      </p:sp>
      <p:sp>
        <p:nvSpPr>
          <p:cNvPr id="8" name="Text 6"/>
          <p:cNvSpPr txBox="1"/>
          <p:nvPr/>
        </p:nvSpPr>
        <p:spPr>
          <a:xfrm>
            <a:off x="1508760" y="2468880"/>
            <a:ext cx="6035040" cy="685800"/>
          </a:xfrm>
          <a:prstGeom prst="rect">
            <a:avLst/>
          </a:prstGeom>
          <a:noFill/>
          <a:ln/>
        </p:spPr>
        <p:txBody>
          <a:bodyPr wrap="square" lIns="0" tIns="0" rIns="0" bIns="0" rtlCol="0" anchor="ctr"/>
          <a:lstStyle/>
          <a:p>
            <a:pPr indent="0" marL="0">
              <a:buNone/>
            </a:pPr>
            <a:r>
              <a:rPr lang="en-US" sz="1900" dirty="0">
                <a:solidFill>
                  <a:srgbClr val="FFFFFF"/>
                </a:solidFill>
              </a:rPr>
              <a:t>Q-learning learns the optimum; SARSA learns the policy it follows, so it plays safe</a:t>
            </a:r>
            <a:endParaRPr lang="en-US" sz="1900" dirty="0"/>
          </a:p>
        </p:txBody>
      </p:sp>
      <p:sp>
        <p:nvSpPr>
          <p:cNvPr id="9" name="badge 3"/>
          <p:cNvSpPr/>
          <p:nvPr/>
        </p:nvSpPr>
        <p:spPr>
          <a:xfrm>
            <a:off x="548640" y="3520440"/>
            <a:ext cx="685800" cy="685800"/>
          </a:xfrm>
          <a:prstGeom prst="roundRect">
            <a:avLst>
              <a:gd name="adj" fmla="val 18000"/>
            </a:avLst>
          </a:prstGeom>
          <a:solidFill>
            <a:srgbClr val="0072B2"/>
          </a:solidFill>
          <a:ln w="12700">
            <a:solidFill>
              <a:srgbClr val="0072B2"/>
            </a:solidFill>
            <a:prstDash val="solid"/>
          </a:ln>
        </p:spPr>
      </p:sp>
      <p:sp>
        <p:nvSpPr>
          <p:cNvPr id="10" name="Text 8"/>
          <p:cNvSpPr txBox="1"/>
          <p:nvPr/>
        </p:nvSpPr>
        <p:spPr>
          <a:xfrm>
            <a:off x="548640" y="352044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rPr>
              <a:t>3</a:t>
            </a:r>
            <a:endParaRPr lang="en-US" sz="2200" dirty="0"/>
          </a:p>
        </p:txBody>
      </p:sp>
      <p:sp>
        <p:nvSpPr>
          <p:cNvPr id="11" name="Text 9"/>
          <p:cNvSpPr txBox="1"/>
          <p:nvPr/>
        </p:nvSpPr>
        <p:spPr>
          <a:xfrm>
            <a:off x="1508760" y="3520440"/>
            <a:ext cx="6035040" cy="685800"/>
          </a:xfrm>
          <a:prstGeom prst="rect">
            <a:avLst/>
          </a:prstGeom>
          <a:noFill/>
          <a:ln/>
        </p:spPr>
        <p:txBody>
          <a:bodyPr wrap="square" lIns="0" tIns="0" rIns="0" bIns="0" rtlCol="0" anchor="ctr"/>
          <a:lstStyle/>
          <a:p>
            <a:pPr indent="0" marL="0">
              <a:buNone/>
            </a:pPr>
            <a:r>
              <a:rPr lang="en-US" sz="1900" dirty="0">
                <a:solidFill>
                  <a:srgbClr val="FFFFFF"/>
                </a:solidFill>
              </a:rPr>
              <a:t>Convergence needs ε → 0 and a shrinking α, and Optuna found exactly that</a:t>
            </a:r>
            <a:endParaRPr lang="en-US" sz="1900" dirty="0"/>
          </a:p>
        </p:txBody>
      </p:sp>
      <p:sp>
        <p:nvSpPr>
          <p:cNvPr id="12" name="badge 4"/>
          <p:cNvSpPr/>
          <p:nvPr/>
        </p:nvSpPr>
        <p:spPr>
          <a:xfrm>
            <a:off x="548640" y="4572000"/>
            <a:ext cx="685800" cy="685800"/>
          </a:xfrm>
          <a:prstGeom prst="roundRect">
            <a:avLst>
              <a:gd name="adj" fmla="val 18000"/>
            </a:avLst>
          </a:prstGeom>
          <a:solidFill>
            <a:srgbClr val="E69F00"/>
          </a:solidFill>
          <a:ln w="12700">
            <a:solidFill>
              <a:srgbClr val="E69F00"/>
            </a:solidFill>
            <a:prstDash val="solid"/>
          </a:ln>
        </p:spPr>
      </p:sp>
      <p:sp>
        <p:nvSpPr>
          <p:cNvPr id="13" name="Text 11"/>
          <p:cNvSpPr txBox="1"/>
          <p:nvPr/>
        </p:nvSpPr>
        <p:spPr>
          <a:xfrm>
            <a:off x="548640" y="457200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rPr>
              <a:t>4</a:t>
            </a:r>
            <a:endParaRPr lang="en-US" sz="2200" dirty="0"/>
          </a:p>
        </p:txBody>
      </p:sp>
      <p:sp>
        <p:nvSpPr>
          <p:cNvPr id="14" name="Text 12"/>
          <p:cNvSpPr txBox="1"/>
          <p:nvPr/>
        </p:nvSpPr>
        <p:spPr>
          <a:xfrm>
            <a:off x="1508760" y="4572000"/>
            <a:ext cx="6035040" cy="685800"/>
          </a:xfrm>
          <a:prstGeom prst="rect">
            <a:avLst/>
          </a:prstGeom>
          <a:noFill/>
          <a:ln/>
        </p:spPr>
        <p:txBody>
          <a:bodyPr wrap="square" lIns="0" tIns="0" rIns="0" bIns="0" rtlCol="0" anchor="ctr"/>
          <a:lstStyle/>
          <a:p>
            <a:pPr indent="0" marL="0">
              <a:buNone/>
            </a:pPr>
            <a:r>
              <a:rPr lang="en-US" sz="1900" dirty="0">
                <a:solidFill>
                  <a:srgbClr val="FFFFFF"/>
                </a:solidFill>
              </a:rPr>
              <a:t>Fully reproducible: cached results, 9 tests, one command redraws everything</a:t>
            </a:r>
            <a:endParaRPr lang="en-US" sz="1900" dirty="0"/>
          </a:p>
        </p:txBody>
      </p:sp>
      <p:sp>
        <p:nvSpPr>
          <p:cNvPr id="15" name="grid cell 0"/>
          <p:cNvSpPr/>
          <p:nvPr/>
        </p:nvSpPr>
        <p:spPr>
          <a:xfrm>
            <a:off x="8229600" y="1554480"/>
            <a:ext cx="777240" cy="777240"/>
          </a:xfrm>
          <a:prstGeom prst="roundRect">
            <a:avLst>
              <a:gd name="adj" fmla="val 18000"/>
            </a:avLst>
          </a:prstGeom>
          <a:solidFill>
            <a:srgbClr val="1C2C45"/>
          </a:solidFill>
          <a:ln w="12700">
            <a:solidFill>
              <a:srgbClr val="1C2C45"/>
            </a:solidFill>
            <a:prstDash val="solid"/>
          </a:ln>
        </p:spPr>
      </p:sp>
      <p:sp>
        <p:nvSpPr>
          <p:cNvPr id="16" name="grid cell 1"/>
          <p:cNvSpPr/>
          <p:nvPr/>
        </p:nvSpPr>
        <p:spPr>
          <a:xfrm>
            <a:off x="9116568" y="1554480"/>
            <a:ext cx="777240" cy="777240"/>
          </a:xfrm>
          <a:prstGeom prst="roundRect">
            <a:avLst>
              <a:gd name="adj" fmla="val 18000"/>
            </a:avLst>
          </a:prstGeom>
          <a:solidFill>
            <a:srgbClr val="1C2C45"/>
          </a:solidFill>
          <a:ln w="12700">
            <a:solidFill>
              <a:srgbClr val="1C2C45"/>
            </a:solidFill>
            <a:prstDash val="solid"/>
          </a:ln>
        </p:spPr>
      </p:sp>
      <p:sp>
        <p:nvSpPr>
          <p:cNvPr id="17" name="grid cell 2"/>
          <p:cNvSpPr/>
          <p:nvPr/>
        </p:nvSpPr>
        <p:spPr>
          <a:xfrm>
            <a:off x="10003536" y="1554480"/>
            <a:ext cx="777240" cy="777240"/>
          </a:xfrm>
          <a:prstGeom prst="roundRect">
            <a:avLst>
              <a:gd name="adj" fmla="val 18000"/>
            </a:avLst>
          </a:prstGeom>
          <a:solidFill>
            <a:srgbClr val="1C2C45"/>
          </a:solidFill>
          <a:ln w="12700">
            <a:solidFill>
              <a:srgbClr val="1C2C45"/>
            </a:solidFill>
            <a:prstDash val="solid"/>
          </a:ln>
        </p:spPr>
      </p:sp>
      <p:sp>
        <p:nvSpPr>
          <p:cNvPr id="18" name="grid cell 3"/>
          <p:cNvSpPr/>
          <p:nvPr/>
        </p:nvSpPr>
        <p:spPr>
          <a:xfrm>
            <a:off x="10890504" y="1554480"/>
            <a:ext cx="777240" cy="777240"/>
          </a:xfrm>
          <a:prstGeom prst="roundRect">
            <a:avLst>
              <a:gd name="adj" fmla="val 18000"/>
            </a:avLst>
          </a:prstGeom>
          <a:solidFill>
            <a:srgbClr val="009E73"/>
          </a:solidFill>
          <a:ln w="12700">
            <a:solidFill>
              <a:srgbClr val="009E73"/>
            </a:solidFill>
            <a:prstDash val="solid"/>
          </a:ln>
        </p:spPr>
      </p:sp>
      <p:sp>
        <p:nvSpPr>
          <p:cNvPr id="19" name="Text 17"/>
          <p:cNvSpPr txBox="1"/>
          <p:nvPr/>
        </p:nvSpPr>
        <p:spPr>
          <a:xfrm>
            <a:off x="10890504" y="1554480"/>
            <a:ext cx="777240" cy="777240"/>
          </a:xfrm>
          <a:prstGeom prst="rect">
            <a:avLst/>
          </a:prstGeom>
          <a:noFill/>
          <a:ln/>
        </p:spPr>
        <p:txBody>
          <a:bodyPr wrap="square" lIns="0" tIns="0" rIns="0" bIns="0" rtlCol="0" anchor="ctr"/>
          <a:lstStyle/>
          <a:p>
            <a:pPr algn="ctr" indent="0" marL="0">
              <a:buNone/>
            </a:pPr>
            <a:r>
              <a:rPr lang="en-US" sz="1900" b="1" dirty="0">
                <a:solidFill>
                  <a:srgbClr val="FFFFFF"/>
                </a:solidFill>
              </a:rPr>
              <a:t>+1</a:t>
            </a:r>
            <a:endParaRPr lang="en-US" sz="1900" dirty="0"/>
          </a:p>
        </p:txBody>
      </p:sp>
      <p:sp>
        <p:nvSpPr>
          <p:cNvPr id="20" name="grid cell 4"/>
          <p:cNvSpPr/>
          <p:nvPr/>
        </p:nvSpPr>
        <p:spPr>
          <a:xfrm>
            <a:off x="8229600" y="2441448"/>
            <a:ext cx="777240" cy="777240"/>
          </a:xfrm>
          <a:prstGeom prst="roundRect">
            <a:avLst>
              <a:gd name="adj" fmla="val 18000"/>
            </a:avLst>
          </a:prstGeom>
          <a:solidFill>
            <a:srgbClr val="1C2C45"/>
          </a:solidFill>
          <a:ln w="12700">
            <a:solidFill>
              <a:srgbClr val="1C2C45"/>
            </a:solidFill>
            <a:prstDash val="solid"/>
          </a:ln>
        </p:spPr>
      </p:sp>
      <p:sp>
        <p:nvSpPr>
          <p:cNvPr id="21" name="grid cell 5"/>
          <p:cNvSpPr/>
          <p:nvPr/>
        </p:nvSpPr>
        <p:spPr>
          <a:xfrm>
            <a:off x="9116568" y="2441448"/>
            <a:ext cx="777240" cy="777240"/>
          </a:xfrm>
          <a:prstGeom prst="roundRect">
            <a:avLst>
              <a:gd name="adj" fmla="val 18000"/>
            </a:avLst>
          </a:prstGeom>
          <a:solidFill>
            <a:srgbClr val="33445E"/>
          </a:solidFill>
          <a:ln w="12700">
            <a:solidFill>
              <a:srgbClr val="33445E"/>
            </a:solidFill>
            <a:prstDash val="solid"/>
          </a:ln>
        </p:spPr>
      </p:sp>
      <p:sp>
        <p:nvSpPr>
          <p:cNvPr id="22" name="grid cell 6"/>
          <p:cNvSpPr/>
          <p:nvPr/>
        </p:nvSpPr>
        <p:spPr>
          <a:xfrm>
            <a:off x="10003536" y="2441448"/>
            <a:ext cx="777240" cy="777240"/>
          </a:xfrm>
          <a:prstGeom prst="roundRect">
            <a:avLst>
              <a:gd name="adj" fmla="val 18000"/>
            </a:avLst>
          </a:prstGeom>
          <a:solidFill>
            <a:srgbClr val="1C2C45"/>
          </a:solidFill>
          <a:ln w="12700">
            <a:solidFill>
              <a:srgbClr val="1C2C45"/>
            </a:solidFill>
            <a:prstDash val="solid"/>
          </a:ln>
        </p:spPr>
      </p:sp>
      <p:sp>
        <p:nvSpPr>
          <p:cNvPr id="23" name="grid cell 7"/>
          <p:cNvSpPr/>
          <p:nvPr/>
        </p:nvSpPr>
        <p:spPr>
          <a:xfrm>
            <a:off x="10890504" y="2441448"/>
            <a:ext cx="777240" cy="777240"/>
          </a:xfrm>
          <a:prstGeom prst="roundRect">
            <a:avLst>
              <a:gd name="adj" fmla="val 18000"/>
            </a:avLst>
          </a:prstGeom>
          <a:solidFill>
            <a:srgbClr val="D55E00"/>
          </a:solidFill>
          <a:ln w="12700">
            <a:solidFill>
              <a:srgbClr val="D55E00"/>
            </a:solidFill>
            <a:prstDash val="solid"/>
          </a:ln>
        </p:spPr>
      </p:sp>
      <p:sp>
        <p:nvSpPr>
          <p:cNvPr id="24" name="Text 22"/>
          <p:cNvSpPr txBox="1"/>
          <p:nvPr/>
        </p:nvSpPr>
        <p:spPr>
          <a:xfrm>
            <a:off x="10890504" y="2441448"/>
            <a:ext cx="777240" cy="777240"/>
          </a:xfrm>
          <a:prstGeom prst="rect">
            <a:avLst/>
          </a:prstGeom>
          <a:noFill/>
          <a:ln/>
        </p:spPr>
        <p:txBody>
          <a:bodyPr wrap="square" lIns="0" tIns="0" rIns="0" bIns="0" rtlCol="0" anchor="ctr"/>
          <a:lstStyle/>
          <a:p>
            <a:pPr algn="ctr" indent="0" marL="0">
              <a:buNone/>
            </a:pPr>
            <a:r>
              <a:rPr lang="en-US" sz="1900" b="1" dirty="0">
                <a:solidFill>
                  <a:srgbClr val="FFFFFF"/>
                </a:solidFill>
              </a:rPr>
              <a:t>−1</a:t>
            </a:r>
            <a:endParaRPr lang="en-US" sz="1900" dirty="0"/>
          </a:p>
        </p:txBody>
      </p:sp>
      <p:sp>
        <p:nvSpPr>
          <p:cNvPr id="25" name="grid cell 8"/>
          <p:cNvSpPr/>
          <p:nvPr/>
        </p:nvSpPr>
        <p:spPr>
          <a:xfrm>
            <a:off x="8229600" y="3328416"/>
            <a:ext cx="777240" cy="777240"/>
          </a:xfrm>
          <a:prstGeom prst="roundRect">
            <a:avLst>
              <a:gd name="adj" fmla="val 18000"/>
            </a:avLst>
          </a:prstGeom>
          <a:solidFill>
            <a:srgbClr val="1C2C45"/>
          </a:solidFill>
          <a:ln w="12700">
            <a:solidFill>
              <a:srgbClr val="1C2C45"/>
            </a:solidFill>
            <a:prstDash val="solid"/>
          </a:ln>
        </p:spPr>
      </p:sp>
      <p:sp>
        <p:nvSpPr>
          <p:cNvPr id="26" name="grid cell 9"/>
          <p:cNvSpPr/>
          <p:nvPr/>
        </p:nvSpPr>
        <p:spPr>
          <a:xfrm>
            <a:off x="9116568" y="3328416"/>
            <a:ext cx="777240" cy="777240"/>
          </a:xfrm>
          <a:prstGeom prst="roundRect">
            <a:avLst>
              <a:gd name="adj" fmla="val 18000"/>
            </a:avLst>
          </a:prstGeom>
          <a:solidFill>
            <a:srgbClr val="1C2C45"/>
          </a:solidFill>
          <a:ln w="12700">
            <a:solidFill>
              <a:srgbClr val="1C2C45"/>
            </a:solidFill>
            <a:prstDash val="solid"/>
          </a:ln>
        </p:spPr>
      </p:sp>
      <p:sp>
        <p:nvSpPr>
          <p:cNvPr id="27" name="grid cell 10"/>
          <p:cNvSpPr/>
          <p:nvPr/>
        </p:nvSpPr>
        <p:spPr>
          <a:xfrm>
            <a:off x="10003536" y="3328416"/>
            <a:ext cx="777240" cy="777240"/>
          </a:xfrm>
          <a:prstGeom prst="roundRect">
            <a:avLst>
              <a:gd name="adj" fmla="val 18000"/>
            </a:avLst>
          </a:prstGeom>
          <a:solidFill>
            <a:srgbClr val="1C2C45"/>
          </a:solidFill>
          <a:ln w="12700">
            <a:solidFill>
              <a:srgbClr val="1C2C45"/>
            </a:solidFill>
            <a:prstDash val="solid"/>
          </a:ln>
        </p:spPr>
      </p:sp>
      <p:sp>
        <p:nvSpPr>
          <p:cNvPr id="28" name="grid cell 11"/>
          <p:cNvSpPr/>
          <p:nvPr/>
        </p:nvSpPr>
        <p:spPr>
          <a:xfrm>
            <a:off x="10890504" y="3328416"/>
            <a:ext cx="777240" cy="777240"/>
          </a:xfrm>
          <a:prstGeom prst="roundRect">
            <a:avLst>
              <a:gd name="adj" fmla="val 18000"/>
            </a:avLst>
          </a:prstGeom>
          <a:solidFill>
            <a:srgbClr val="1C2C45"/>
          </a:solidFill>
          <a:ln w="12700">
            <a:solidFill>
              <a:srgbClr val="1C2C45"/>
            </a:solidFill>
            <a:prstDash val="solid"/>
          </a:ln>
        </p:spPr>
      </p:sp>
      <p:sp>
        <p:nvSpPr>
          <p:cNvPr id="29" name="Shape 27"/>
          <p:cNvSpPr/>
          <p:nvPr/>
        </p:nvSpPr>
        <p:spPr>
          <a:xfrm flipV="1">
            <a:off x="8618220" y="2830068"/>
            <a:ext cx="914" cy="886968"/>
          </a:xfrm>
          <a:prstGeom prst="line">
            <a:avLst/>
          </a:prstGeom>
          <a:noFill/>
          <a:ln w="28575">
            <a:solidFill>
              <a:srgbClr val="FFFFFF"/>
            </a:solidFill>
            <a:prstDash val="dash"/>
          </a:ln>
        </p:spPr>
      </p:sp>
      <p:sp>
        <p:nvSpPr>
          <p:cNvPr id="30" name="Shape 28"/>
          <p:cNvSpPr/>
          <p:nvPr/>
        </p:nvSpPr>
        <p:spPr>
          <a:xfrm flipV="1">
            <a:off x="8618220" y="1943100"/>
            <a:ext cx="914" cy="886968"/>
          </a:xfrm>
          <a:prstGeom prst="line">
            <a:avLst/>
          </a:prstGeom>
          <a:noFill/>
          <a:ln w="28575">
            <a:solidFill>
              <a:srgbClr val="FFFFFF"/>
            </a:solidFill>
            <a:prstDash val="dash"/>
          </a:ln>
        </p:spPr>
      </p:sp>
      <p:sp>
        <p:nvSpPr>
          <p:cNvPr id="31" name="Shape 29"/>
          <p:cNvSpPr/>
          <p:nvPr/>
        </p:nvSpPr>
        <p:spPr>
          <a:xfrm>
            <a:off x="8618220" y="1943100"/>
            <a:ext cx="886968" cy="914"/>
          </a:xfrm>
          <a:prstGeom prst="line">
            <a:avLst/>
          </a:prstGeom>
          <a:noFill/>
          <a:ln w="28575">
            <a:solidFill>
              <a:srgbClr val="FFFFFF"/>
            </a:solidFill>
            <a:prstDash val="dash"/>
          </a:ln>
        </p:spPr>
      </p:sp>
      <p:sp>
        <p:nvSpPr>
          <p:cNvPr id="32" name="Shape 30"/>
          <p:cNvSpPr/>
          <p:nvPr/>
        </p:nvSpPr>
        <p:spPr>
          <a:xfrm>
            <a:off x="9505188" y="1943100"/>
            <a:ext cx="886968" cy="914"/>
          </a:xfrm>
          <a:prstGeom prst="line">
            <a:avLst/>
          </a:prstGeom>
          <a:noFill/>
          <a:ln w="28575">
            <a:solidFill>
              <a:srgbClr val="FFFFFF"/>
            </a:solidFill>
            <a:prstDash val="dash"/>
          </a:ln>
        </p:spPr>
      </p:sp>
      <p:sp>
        <p:nvSpPr>
          <p:cNvPr id="33" name="Shape 31"/>
          <p:cNvSpPr/>
          <p:nvPr/>
        </p:nvSpPr>
        <p:spPr>
          <a:xfrm>
            <a:off x="10392156" y="1943100"/>
            <a:ext cx="443484" cy="914"/>
          </a:xfrm>
          <a:prstGeom prst="line">
            <a:avLst/>
          </a:prstGeom>
          <a:noFill/>
          <a:ln w="28575">
            <a:solidFill>
              <a:srgbClr val="FFFFFF"/>
            </a:solidFill>
            <a:prstDash val="dash"/>
            <a:tailEnd type="triangle"/>
          </a:ln>
        </p:spPr>
      </p:sp>
      <p:sp>
        <p:nvSpPr>
          <p:cNvPr id="34" name="agent"/>
          <p:cNvSpPr/>
          <p:nvPr/>
        </p:nvSpPr>
        <p:spPr>
          <a:xfrm>
            <a:off x="8408365" y="3507181"/>
            <a:ext cx="419710" cy="419710"/>
          </a:xfrm>
          <a:prstGeom prst="ellipse">
            <a:avLst/>
          </a:prstGeom>
          <a:solidFill>
            <a:srgbClr val="E69F00"/>
          </a:solidFill>
          <a:ln w="12700">
            <a:solidFill>
              <a:srgbClr val="E69F00"/>
            </a:solidFill>
            <a:prstDash val="solid"/>
          </a:ln>
        </p:spPr>
      </p:sp>
      <p:sp>
        <p:nvSpPr>
          <p:cNvPr id="35" name="Text 33"/>
          <p:cNvSpPr txBox="1"/>
          <p:nvPr/>
        </p:nvSpPr>
        <p:spPr>
          <a:xfrm>
            <a:off x="8229600" y="4434840"/>
            <a:ext cx="3383280" cy="548640"/>
          </a:xfrm>
          <a:prstGeom prst="rect">
            <a:avLst/>
          </a:prstGeom>
          <a:noFill/>
          <a:ln/>
        </p:spPr>
        <p:txBody>
          <a:bodyPr wrap="square" lIns="0" tIns="0" rIns="0" bIns="0" rtlCol="0" anchor="ctr"/>
          <a:lstStyle/>
          <a:p>
            <a:pPr algn="ctr" indent="0" marL="0">
              <a:buNone/>
            </a:pPr>
            <a:r>
              <a:rPr lang="en-US" sz="2600" b="1" dirty="0">
                <a:solidFill>
                  <a:srgbClr val="FFFFFF"/>
                </a:solidFill>
              </a:rPr>
              <a:t>Questions?</a:t>
            </a:r>
            <a:endParaRPr lang="en-US" sz="2600" dirty="0"/>
          </a:p>
        </p:txBody>
      </p:sp>
      <p:sp>
        <p:nvSpPr>
          <p:cNvPr id="36" name="Text 34"/>
          <p:cNvSpPr txBox="1"/>
          <p:nvPr/>
        </p:nvSpPr>
        <p:spPr>
          <a:xfrm>
            <a:off x="8229600" y="4983480"/>
            <a:ext cx="3383280" cy="365760"/>
          </a:xfrm>
          <a:prstGeom prst="rect">
            <a:avLst/>
          </a:prstGeom>
          <a:noFill/>
          <a:ln/>
        </p:spPr>
        <p:txBody>
          <a:bodyPr wrap="square" lIns="0" tIns="0" rIns="0" bIns="0" rtlCol="0" anchor="ctr"/>
          <a:lstStyle/>
          <a:p>
            <a:pPr algn="ctr" indent="0" marL="0">
              <a:buNone/>
            </a:pPr>
            <a:r>
              <a:rPr lang="en-US" sz="1300" dirty="0">
                <a:solidFill>
                  <a:srgbClr val="8A9BB5"/>
                </a:solidFill>
              </a:rPr>
              <a:t>github.com/ElTiToRuiz/assignment-1</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BB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bg1"/>
                </a:solidFill>
              </a:rPr>
              <a:t>Backup</a:t>
            </a:r>
            <a:endParaRPr lang="en-US" sz="32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algn="ctr" indent="0" marL="0">
              <a:buNone/>
            </a:pPr>
            <a:r>
              <a:rPr lang="en-US" sz="1800" dirty="0">
                <a:solidFill>
                  <a:srgbClr val="CADCFC"/>
                </a:solidFill>
              </a:rPr>
              <a:t>Extra detail for the questions</a:t>
            </a:r>
            <a:endParaRPr lang="en-US" sz="1800" dirty="0"/>
          </a:p>
        </p:txBody>
      </p:sp>
      <p:sp>
        <p:nvSpPr>
          <p:cNvPr id="4" name="grid cell 0"/>
          <p:cNvSpPr/>
          <p:nvPr/>
        </p:nvSpPr>
        <p:spPr>
          <a:xfrm>
            <a:off x="4376776" y="2377440"/>
            <a:ext cx="777240" cy="777240"/>
          </a:xfrm>
          <a:prstGeom prst="roundRect">
            <a:avLst>
              <a:gd name="adj" fmla="val 18000"/>
            </a:avLst>
          </a:prstGeom>
          <a:solidFill>
            <a:srgbClr val="1C2C45"/>
          </a:solidFill>
          <a:ln w="12700">
            <a:solidFill>
              <a:srgbClr val="1C2C45"/>
            </a:solidFill>
            <a:prstDash val="solid"/>
          </a:ln>
        </p:spPr>
      </p:sp>
      <p:sp>
        <p:nvSpPr>
          <p:cNvPr id="5" name="grid cell 1"/>
          <p:cNvSpPr/>
          <p:nvPr/>
        </p:nvSpPr>
        <p:spPr>
          <a:xfrm>
            <a:off x="5263744" y="2377440"/>
            <a:ext cx="777240" cy="777240"/>
          </a:xfrm>
          <a:prstGeom prst="roundRect">
            <a:avLst>
              <a:gd name="adj" fmla="val 18000"/>
            </a:avLst>
          </a:prstGeom>
          <a:solidFill>
            <a:srgbClr val="1C2C45"/>
          </a:solidFill>
          <a:ln w="12700">
            <a:solidFill>
              <a:srgbClr val="1C2C45"/>
            </a:solidFill>
            <a:prstDash val="solid"/>
          </a:ln>
        </p:spPr>
      </p:sp>
      <p:sp>
        <p:nvSpPr>
          <p:cNvPr id="6" name="grid cell 2"/>
          <p:cNvSpPr/>
          <p:nvPr/>
        </p:nvSpPr>
        <p:spPr>
          <a:xfrm>
            <a:off x="6150712" y="2377440"/>
            <a:ext cx="777240" cy="777240"/>
          </a:xfrm>
          <a:prstGeom prst="roundRect">
            <a:avLst>
              <a:gd name="adj" fmla="val 18000"/>
            </a:avLst>
          </a:prstGeom>
          <a:solidFill>
            <a:srgbClr val="1C2C45"/>
          </a:solidFill>
          <a:ln w="12700">
            <a:solidFill>
              <a:srgbClr val="1C2C45"/>
            </a:solidFill>
            <a:prstDash val="solid"/>
          </a:ln>
        </p:spPr>
      </p:sp>
      <p:sp>
        <p:nvSpPr>
          <p:cNvPr id="7" name="grid cell 3"/>
          <p:cNvSpPr/>
          <p:nvPr/>
        </p:nvSpPr>
        <p:spPr>
          <a:xfrm>
            <a:off x="7037680" y="2377440"/>
            <a:ext cx="777240" cy="777240"/>
          </a:xfrm>
          <a:prstGeom prst="roundRect">
            <a:avLst>
              <a:gd name="adj" fmla="val 18000"/>
            </a:avLst>
          </a:prstGeom>
          <a:solidFill>
            <a:srgbClr val="009E73"/>
          </a:solidFill>
          <a:ln w="12700">
            <a:solidFill>
              <a:srgbClr val="009E73"/>
            </a:solidFill>
            <a:prstDash val="solid"/>
          </a:ln>
        </p:spPr>
      </p:sp>
      <p:sp>
        <p:nvSpPr>
          <p:cNvPr id="8" name="Text 6"/>
          <p:cNvSpPr txBox="1"/>
          <p:nvPr/>
        </p:nvSpPr>
        <p:spPr>
          <a:xfrm>
            <a:off x="7037680" y="2377440"/>
            <a:ext cx="777240" cy="777240"/>
          </a:xfrm>
          <a:prstGeom prst="rect">
            <a:avLst/>
          </a:prstGeom>
          <a:noFill/>
          <a:ln/>
        </p:spPr>
        <p:txBody>
          <a:bodyPr wrap="square" lIns="0" tIns="0" rIns="0" bIns="0" rtlCol="0" anchor="ctr"/>
          <a:lstStyle/>
          <a:p>
            <a:pPr algn="ctr" indent="0" marL="0">
              <a:buNone/>
            </a:pPr>
            <a:r>
              <a:rPr lang="en-US" sz="1900" b="1" dirty="0">
                <a:solidFill>
                  <a:srgbClr val="FFFFFF"/>
                </a:solidFill>
              </a:rPr>
              <a:t>+1</a:t>
            </a:r>
            <a:endParaRPr lang="en-US" sz="1900" dirty="0"/>
          </a:p>
        </p:txBody>
      </p:sp>
      <p:sp>
        <p:nvSpPr>
          <p:cNvPr id="9" name="grid cell 4"/>
          <p:cNvSpPr/>
          <p:nvPr/>
        </p:nvSpPr>
        <p:spPr>
          <a:xfrm>
            <a:off x="4376776" y="3264408"/>
            <a:ext cx="777240" cy="777240"/>
          </a:xfrm>
          <a:prstGeom prst="roundRect">
            <a:avLst>
              <a:gd name="adj" fmla="val 18000"/>
            </a:avLst>
          </a:prstGeom>
          <a:solidFill>
            <a:srgbClr val="1C2C45"/>
          </a:solidFill>
          <a:ln w="12700">
            <a:solidFill>
              <a:srgbClr val="1C2C45"/>
            </a:solidFill>
            <a:prstDash val="solid"/>
          </a:ln>
        </p:spPr>
      </p:sp>
      <p:sp>
        <p:nvSpPr>
          <p:cNvPr id="10" name="grid cell 5"/>
          <p:cNvSpPr/>
          <p:nvPr/>
        </p:nvSpPr>
        <p:spPr>
          <a:xfrm>
            <a:off x="5263744" y="3264408"/>
            <a:ext cx="777240" cy="777240"/>
          </a:xfrm>
          <a:prstGeom prst="roundRect">
            <a:avLst>
              <a:gd name="adj" fmla="val 18000"/>
            </a:avLst>
          </a:prstGeom>
          <a:solidFill>
            <a:srgbClr val="33445E"/>
          </a:solidFill>
          <a:ln w="12700">
            <a:solidFill>
              <a:srgbClr val="33445E"/>
            </a:solidFill>
            <a:prstDash val="solid"/>
          </a:ln>
        </p:spPr>
      </p:sp>
      <p:sp>
        <p:nvSpPr>
          <p:cNvPr id="11" name="grid cell 6"/>
          <p:cNvSpPr/>
          <p:nvPr/>
        </p:nvSpPr>
        <p:spPr>
          <a:xfrm>
            <a:off x="6150712" y="3264408"/>
            <a:ext cx="777240" cy="777240"/>
          </a:xfrm>
          <a:prstGeom prst="roundRect">
            <a:avLst>
              <a:gd name="adj" fmla="val 18000"/>
            </a:avLst>
          </a:prstGeom>
          <a:solidFill>
            <a:srgbClr val="1C2C45"/>
          </a:solidFill>
          <a:ln w="12700">
            <a:solidFill>
              <a:srgbClr val="1C2C45"/>
            </a:solidFill>
            <a:prstDash val="solid"/>
          </a:ln>
        </p:spPr>
      </p:sp>
      <p:sp>
        <p:nvSpPr>
          <p:cNvPr id="12" name="grid cell 7"/>
          <p:cNvSpPr/>
          <p:nvPr/>
        </p:nvSpPr>
        <p:spPr>
          <a:xfrm>
            <a:off x="7037680" y="3264408"/>
            <a:ext cx="777240" cy="777240"/>
          </a:xfrm>
          <a:prstGeom prst="roundRect">
            <a:avLst>
              <a:gd name="adj" fmla="val 18000"/>
            </a:avLst>
          </a:prstGeom>
          <a:solidFill>
            <a:srgbClr val="D55E00"/>
          </a:solidFill>
          <a:ln w="12700">
            <a:solidFill>
              <a:srgbClr val="D55E00"/>
            </a:solidFill>
            <a:prstDash val="solid"/>
          </a:ln>
        </p:spPr>
      </p:sp>
      <p:sp>
        <p:nvSpPr>
          <p:cNvPr id="13" name="Text 11"/>
          <p:cNvSpPr txBox="1"/>
          <p:nvPr/>
        </p:nvSpPr>
        <p:spPr>
          <a:xfrm>
            <a:off x="7037680" y="3264408"/>
            <a:ext cx="777240" cy="777240"/>
          </a:xfrm>
          <a:prstGeom prst="rect">
            <a:avLst/>
          </a:prstGeom>
          <a:noFill/>
          <a:ln/>
        </p:spPr>
        <p:txBody>
          <a:bodyPr wrap="square" lIns="0" tIns="0" rIns="0" bIns="0" rtlCol="0" anchor="ctr"/>
          <a:lstStyle/>
          <a:p>
            <a:pPr algn="ctr" indent="0" marL="0">
              <a:buNone/>
            </a:pPr>
            <a:r>
              <a:rPr lang="en-US" sz="1900" b="1" dirty="0">
                <a:solidFill>
                  <a:srgbClr val="FFFFFF"/>
                </a:solidFill>
              </a:rPr>
              <a:t>−1</a:t>
            </a:r>
            <a:endParaRPr lang="en-US" sz="1900" dirty="0"/>
          </a:p>
        </p:txBody>
      </p:sp>
      <p:sp>
        <p:nvSpPr>
          <p:cNvPr id="14" name="grid cell 8"/>
          <p:cNvSpPr/>
          <p:nvPr/>
        </p:nvSpPr>
        <p:spPr>
          <a:xfrm>
            <a:off x="4376776" y="4151376"/>
            <a:ext cx="777240" cy="777240"/>
          </a:xfrm>
          <a:prstGeom prst="roundRect">
            <a:avLst>
              <a:gd name="adj" fmla="val 18000"/>
            </a:avLst>
          </a:prstGeom>
          <a:solidFill>
            <a:srgbClr val="1C2C45"/>
          </a:solidFill>
          <a:ln w="12700">
            <a:solidFill>
              <a:srgbClr val="1C2C45"/>
            </a:solidFill>
            <a:prstDash val="solid"/>
          </a:ln>
        </p:spPr>
      </p:sp>
      <p:sp>
        <p:nvSpPr>
          <p:cNvPr id="15" name="grid cell 9"/>
          <p:cNvSpPr/>
          <p:nvPr/>
        </p:nvSpPr>
        <p:spPr>
          <a:xfrm>
            <a:off x="5263744" y="4151376"/>
            <a:ext cx="777240" cy="777240"/>
          </a:xfrm>
          <a:prstGeom prst="roundRect">
            <a:avLst>
              <a:gd name="adj" fmla="val 18000"/>
            </a:avLst>
          </a:prstGeom>
          <a:solidFill>
            <a:srgbClr val="1C2C45"/>
          </a:solidFill>
          <a:ln w="12700">
            <a:solidFill>
              <a:srgbClr val="1C2C45"/>
            </a:solidFill>
            <a:prstDash val="solid"/>
          </a:ln>
        </p:spPr>
      </p:sp>
      <p:sp>
        <p:nvSpPr>
          <p:cNvPr id="16" name="grid cell 10"/>
          <p:cNvSpPr/>
          <p:nvPr/>
        </p:nvSpPr>
        <p:spPr>
          <a:xfrm>
            <a:off x="6150712" y="4151376"/>
            <a:ext cx="777240" cy="777240"/>
          </a:xfrm>
          <a:prstGeom prst="roundRect">
            <a:avLst>
              <a:gd name="adj" fmla="val 18000"/>
            </a:avLst>
          </a:prstGeom>
          <a:solidFill>
            <a:srgbClr val="1C2C45"/>
          </a:solidFill>
          <a:ln w="12700">
            <a:solidFill>
              <a:srgbClr val="1C2C45"/>
            </a:solidFill>
            <a:prstDash val="solid"/>
          </a:ln>
        </p:spPr>
      </p:sp>
      <p:sp>
        <p:nvSpPr>
          <p:cNvPr id="17" name="grid cell 11"/>
          <p:cNvSpPr/>
          <p:nvPr/>
        </p:nvSpPr>
        <p:spPr>
          <a:xfrm>
            <a:off x="7037680" y="4151376"/>
            <a:ext cx="777240" cy="777240"/>
          </a:xfrm>
          <a:prstGeom prst="roundRect">
            <a:avLst>
              <a:gd name="adj" fmla="val 18000"/>
            </a:avLst>
          </a:prstGeom>
          <a:solidFill>
            <a:srgbClr val="1C2C45"/>
          </a:solidFill>
          <a:ln w="12700">
            <a:solidFill>
              <a:srgbClr val="1C2C45"/>
            </a:solidFill>
            <a:prstDash val="solid"/>
          </a:ln>
        </p:spPr>
      </p:sp>
      <p:sp>
        <p:nvSpPr>
          <p:cNvPr id="18" name="agent"/>
          <p:cNvSpPr/>
          <p:nvPr/>
        </p:nvSpPr>
        <p:spPr>
          <a:xfrm>
            <a:off x="4555541" y="4330141"/>
            <a:ext cx="419710" cy="419710"/>
          </a:xfrm>
          <a:prstGeom prst="ellipse">
            <a:avLst/>
          </a:prstGeom>
          <a:solidFill>
            <a:srgbClr val="E69F00"/>
          </a:solidFill>
          <a:ln w="12700">
            <a:solidFill>
              <a:srgbClr val="E69F00"/>
            </a:solidFill>
            <a:prstDash val="solid"/>
          </a:ln>
        </p:spPr>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BB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1"/>
                </a:solidFill>
              </a:rPr>
              <a:t>Dynamic programming: the answer key</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377440"/>
                <a:gridCol w="2103120"/>
                <a:gridCol w="2103120"/>
              </a:tblGrid>
              <a:tr h="502920">
                <a:tc>
                  <a:txBody>
                    <a:bodyPr/>
                    <a:lstStyle/>
                    <a:p>
                      <a:pPr algn="ctr" indent="0" marL="0">
                        <a:buNone/>
                      </a:pPr>
                      <a:r>
                        <a:rPr lang="en-US" sz="1600" b="1" dirty="0">
                          <a:solidFill>
                            <a:srgbClr val="FFFFFF"/>
                          </a:solidFill>
                        </a:rPr>
                        <a:t>Environment</a:t>
                      </a:r>
                      <a:endParaRPr lang="en-US" sz="1600" dirty="0"/>
                    </a:p>
                  </a:txBody>
                  <a:tcPr marL="91440" marR="91440" marT="45720" marB="45720">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F1B2D"/>
                    </a:solidFill>
                  </a:tcPr>
                </a:tc>
                <a:tc>
                  <a:txBody>
                    <a:bodyPr/>
                    <a:lstStyle/>
                    <a:p>
                      <a:pPr algn="ctr" indent="0" marL="0">
                        <a:buNone/>
                      </a:pPr>
                      <a:r>
                        <a:rPr lang="en-US" sz="1600" b="1" dirty="0">
                          <a:solidFill>
                            <a:srgbClr val="FFFFFF"/>
                          </a:solidFill>
                        </a:rPr>
                        <a:t>Value iteration (sweeps)</a:t>
                      </a:r>
                      <a:endParaRPr lang="en-US" sz="1600" dirty="0"/>
                    </a:p>
                  </a:txBody>
                  <a:tcPr marL="91440" marR="91440" marT="45720" marB="45720">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F1B2D"/>
                    </a:solidFill>
                  </a:tcPr>
                </a:tc>
                <a:tc>
                  <a:txBody>
                    <a:bodyPr/>
                    <a:lstStyle/>
                    <a:p>
                      <a:pPr algn="ctr" indent="0" marL="0">
                        <a:buNone/>
                      </a:pPr>
                      <a:r>
                        <a:rPr lang="en-US" sz="1600" b="1" dirty="0">
                          <a:solidFill>
                            <a:srgbClr val="FFFFFF"/>
                          </a:solidFill>
                        </a:rPr>
                        <a:t>Policy iteration (steps)</a:t>
                      </a:r>
                      <a:endParaRPr lang="en-US" sz="1600" dirty="0"/>
                    </a:p>
                  </a:txBody>
                  <a:tcPr marL="91440" marR="91440" marT="45720" marB="45720">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F1B2D"/>
                    </a:solidFill>
                  </a:tcPr>
                </a:tc>
              </a:tr>
              <a:tr h="502920">
                <a:tc>
                  <a:txBody>
                    <a:bodyPr/>
                    <a:lstStyle/>
                    <a:p>
                      <a:pPr algn="l" indent="0" marL="0">
                        <a:buNone/>
                      </a:pPr>
                      <a:r>
                        <a:rPr lang="en-US" sz="1600" dirty="0">
                          <a:solidFill>
                            <a:srgbClr val="0F1B2D"/>
                          </a:solidFill>
                        </a:rPr>
                        <a:t>Deterministic grid</a:t>
                      </a:r>
                      <a:endParaRPr lang="en-US" sz="1600" dirty="0"/>
                    </a:p>
                  </a:txBody>
                  <a:tcPr marL="91440" marR="91440" marT="45720" marB="45720">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0F1B2D"/>
                          </a:solidFill>
                        </a:rPr>
                        <a:t>6</a:t>
                      </a:r>
                      <a:endParaRPr lang="en-US" sz="1600" dirty="0"/>
                    </a:p>
                  </a:txBody>
                  <a:tcPr marL="91440" marR="91440" marT="45720" marB="45720">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0F1B2D"/>
                          </a:solidFill>
                        </a:rPr>
                        <a:t>6</a:t>
                      </a:r>
                      <a:endParaRPr lang="en-US" sz="1600" dirty="0"/>
                    </a:p>
                  </a:txBody>
                  <a:tcPr marL="91440" marR="91440" marT="45720" marB="45720">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2F6"/>
                    </a:solidFill>
                  </a:tcPr>
                </a:tc>
              </a:tr>
              <a:tr h="502920">
                <a:tc>
                  <a:txBody>
                    <a:bodyPr/>
                    <a:lstStyle/>
                    <a:p>
                      <a:pPr algn="l" indent="0" marL="0">
                        <a:buNone/>
                      </a:pPr>
                      <a:r>
                        <a:rPr lang="en-US" sz="1600" dirty="0">
                          <a:solidFill>
                            <a:srgbClr val="0F1B2D"/>
                          </a:solidFill>
                        </a:rPr>
                        <a:t>Slippery grid</a:t>
                      </a:r>
                      <a:endParaRPr lang="en-US" sz="1600" dirty="0"/>
                    </a:p>
                  </a:txBody>
                  <a:tcPr marL="91440" marR="91440" marT="45720" marB="45720">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F1B2D"/>
                          </a:solidFill>
                        </a:rPr>
                        <a:t>145</a:t>
                      </a:r>
                      <a:endParaRPr lang="en-US" sz="1600" dirty="0"/>
                    </a:p>
                  </a:txBody>
                  <a:tcPr marL="91440" marR="91440" marT="45720" marB="45720">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F1B2D"/>
                          </a:solidFill>
                        </a:rPr>
                        <a:t>7</a:t>
                      </a:r>
                      <a:endParaRPr lang="en-US" sz="1600" dirty="0"/>
                    </a:p>
                  </a:txBody>
                  <a:tcPr marL="91440" marR="91440" marT="45720" marB="45720">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algn="l" indent="0" marL="0">
                        <a:buNone/>
                      </a:pPr>
                      <a:r>
                        <a:rPr lang="en-US" sz="1600" dirty="0">
                          <a:solidFill>
                            <a:srgbClr val="0F1B2D"/>
                          </a:solidFill>
                        </a:rPr>
                        <a:t>Cliff Walking</a:t>
                      </a:r>
                      <a:endParaRPr lang="en-US" sz="1600" dirty="0"/>
                    </a:p>
                  </a:txBody>
                  <a:tcPr marL="91440" marR="91440" marT="45720" marB="45720">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0F1B2D"/>
                          </a:solidFill>
                        </a:rPr>
                        <a:t>15</a:t>
                      </a:r>
                      <a:endParaRPr lang="en-US" sz="1600" dirty="0"/>
                    </a:p>
                  </a:txBody>
                  <a:tcPr marL="91440" marR="91440" marT="45720" marB="45720">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0F1B2D"/>
                          </a:solidFill>
                        </a:rPr>
                        <a:t>15</a:t>
                      </a:r>
                      <a:endParaRPr lang="en-US" sz="1600" dirty="0"/>
                    </a:p>
                  </a:txBody>
                  <a:tcPr marL="91440" marR="91440" marT="45720" marB="45720">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2F6"/>
                    </a:solidFill>
                  </a:tcPr>
                </a:tc>
              </a:tr>
            </a:tbl>
          </a:graphicData>
        </a:graphic>
      </p:graphicFrame>
      <p:sp>
        <p:nvSpPr>
          <p:cNvPr id="4" name="badge 1"/>
          <p:cNvSpPr/>
          <p:nvPr/>
        </p:nvSpPr>
        <p:spPr>
          <a:xfrm>
            <a:off x="7680960" y="1371600"/>
            <a:ext cx="457200" cy="457200"/>
          </a:xfrm>
          <a:prstGeom prst="roundRect">
            <a:avLst>
              <a:gd name="adj" fmla="val 18000"/>
            </a:avLst>
          </a:prstGeom>
          <a:solidFill>
            <a:srgbClr val="0072B2"/>
          </a:solidFill>
          <a:ln w="12700">
            <a:solidFill>
              <a:srgbClr val="0072B2"/>
            </a:solidFill>
            <a:prstDash val="solid"/>
          </a:ln>
        </p:spPr>
      </p:sp>
      <p:sp>
        <p:nvSpPr>
          <p:cNvPr id="5" name="Text 2"/>
          <p:cNvSpPr txBox="1"/>
          <p:nvPr/>
        </p:nvSpPr>
        <p:spPr>
          <a:xfrm>
            <a:off x="7680960" y="1371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3"/>
          <p:cNvSpPr txBox="1"/>
          <p:nvPr/>
        </p:nvSpPr>
        <p:spPr>
          <a:xfrm>
            <a:off x="8321040" y="1335024"/>
            <a:ext cx="3291840" cy="365760"/>
          </a:xfrm>
          <a:prstGeom prst="rect">
            <a:avLst/>
          </a:prstGeom>
          <a:noFill/>
          <a:ln/>
        </p:spPr>
        <p:txBody>
          <a:bodyPr wrap="square" lIns="0" tIns="0" rIns="0" bIns="0" rtlCol="0" anchor="ctr"/>
          <a:lstStyle/>
          <a:p>
            <a:pPr indent="0" marL="0">
              <a:buNone/>
            </a:pPr>
            <a:r>
              <a:rPr lang="en-US" sz="1600" b="1" dirty="0">
                <a:solidFill>
                  <a:schemeClr val="tx1"/>
                </a:solidFill>
              </a:rPr>
              <a:t>Value iteration</a:t>
            </a:r>
            <a:endParaRPr lang="en-US" sz="1600" dirty="0"/>
          </a:p>
        </p:txBody>
      </p:sp>
      <p:sp>
        <p:nvSpPr>
          <p:cNvPr id="7" name="Text 4"/>
          <p:cNvSpPr txBox="1"/>
          <p:nvPr/>
        </p:nvSpPr>
        <p:spPr>
          <a:xfrm>
            <a:off x="8321040" y="1700784"/>
            <a:ext cx="3291840" cy="777240"/>
          </a:xfrm>
          <a:prstGeom prst="rect">
            <a:avLst/>
          </a:prstGeom>
          <a:noFill/>
          <a:ln/>
        </p:spPr>
        <p:txBody>
          <a:bodyPr wrap="square" lIns="0" tIns="0" rIns="0" bIns="0" rtlCol="0" anchor="t"/>
          <a:lstStyle/>
          <a:p>
            <a:pPr indent="0" marL="0">
              <a:buNone/>
            </a:pPr>
            <a:r>
              <a:rPr lang="en-US" sz="1300" dirty="0">
                <a:solidFill>
                  <a:schemeClr val="tx2"/>
                </a:solidFill>
              </a:rPr>
              <a:t>applies the Bellman optimality equation until V stops changing: cheap sweeps, many of them</a:t>
            </a:r>
            <a:endParaRPr lang="en-US" sz="1300" dirty="0"/>
          </a:p>
        </p:txBody>
      </p:sp>
      <p:sp>
        <p:nvSpPr>
          <p:cNvPr id="8" name="badge 2"/>
          <p:cNvSpPr/>
          <p:nvPr/>
        </p:nvSpPr>
        <p:spPr>
          <a:xfrm>
            <a:off x="7680960" y="2606040"/>
            <a:ext cx="457200" cy="457200"/>
          </a:xfrm>
          <a:prstGeom prst="roundRect">
            <a:avLst>
              <a:gd name="adj" fmla="val 18000"/>
            </a:avLst>
          </a:prstGeom>
          <a:solidFill>
            <a:srgbClr val="D55E00"/>
          </a:solidFill>
          <a:ln w="12700">
            <a:solidFill>
              <a:srgbClr val="D55E00"/>
            </a:solidFill>
            <a:prstDash val="solid"/>
          </a:ln>
        </p:spPr>
      </p:sp>
      <p:sp>
        <p:nvSpPr>
          <p:cNvPr id="9" name="Text 6"/>
          <p:cNvSpPr txBox="1"/>
          <p:nvPr/>
        </p:nvSpPr>
        <p:spPr>
          <a:xfrm>
            <a:off x="768096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7"/>
          <p:cNvSpPr txBox="1"/>
          <p:nvPr/>
        </p:nvSpPr>
        <p:spPr>
          <a:xfrm>
            <a:off x="8321040" y="2569464"/>
            <a:ext cx="3291840" cy="365760"/>
          </a:xfrm>
          <a:prstGeom prst="rect">
            <a:avLst/>
          </a:prstGeom>
          <a:noFill/>
          <a:ln/>
        </p:spPr>
        <p:txBody>
          <a:bodyPr wrap="square" lIns="0" tIns="0" rIns="0" bIns="0" rtlCol="0" anchor="ctr"/>
          <a:lstStyle/>
          <a:p>
            <a:pPr indent="0" marL="0">
              <a:buNone/>
            </a:pPr>
            <a:r>
              <a:rPr lang="en-US" sz="1600" b="1" dirty="0">
                <a:solidFill>
                  <a:schemeClr val="tx1"/>
                </a:solidFill>
              </a:rPr>
              <a:t>Policy iteration</a:t>
            </a:r>
            <a:endParaRPr lang="en-US" sz="1600" dirty="0"/>
          </a:p>
        </p:txBody>
      </p:sp>
      <p:sp>
        <p:nvSpPr>
          <p:cNvPr id="11" name="Text 8"/>
          <p:cNvSpPr txBox="1"/>
          <p:nvPr/>
        </p:nvSpPr>
        <p:spPr>
          <a:xfrm>
            <a:off x="8321040" y="2935224"/>
            <a:ext cx="3291840" cy="777240"/>
          </a:xfrm>
          <a:prstGeom prst="rect">
            <a:avLst/>
          </a:prstGeom>
          <a:noFill/>
          <a:ln/>
        </p:spPr>
        <p:txBody>
          <a:bodyPr wrap="square" lIns="0" tIns="0" rIns="0" bIns="0" rtlCol="0" anchor="t"/>
          <a:lstStyle/>
          <a:p>
            <a:pPr indent="0" marL="0">
              <a:buNone/>
            </a:pPr>
            <a:r>
              <a:rPr lang="en-US" sz="1300" dirty="0">
                <a:solidFill>
                  <a:schemeClr val="tx2"/>
                </a:solidFill>
              </a:rPr>
              <a:t>solves the Bellman equation exactly, then improves greedily: few, expensive steps</a:t>
            </a:r>
            <a:endParaRPr lang="en-US" sz="1300" dirty="0"/>
          </a:p>
        </p:txBody>
      </p:sp>
      <p:sp>
        <p:nvSpPr>
          <p:cNvPr id="12" name="badge 3"/>
          <p:cNvSpPr/>
          <p:nvPr/>
        </p:nvSpPr>
        <p:spPr>
          <a:xfrm>
            <a:off x="7680960" y="3840480"/>
            <a:ext cx="457200" cy="457200"/>
          </a:xfrm>
          <a:prstGeom prst="roundRect">
            <a:avLst>
              <a:gd name="adj" fmla="val 18000"/>
            </a:avLst>
          </a:prstGeom>
          <a:solidFill>
            <a:srgbClr val="009E73"/>
          </a:solidFill>
          <a:ln w="12700">
            <a:solidFill>
              <a:srgbClr val="009E73"/>
            </a:solidFill>
            <a:prstDash val="solid"/>
          </a:ln>
        </p:spPr>
      </p:sp>
      <p:sp>
        <p:nvSpPr>
          <p:cNvPr id="13" name="Text 10"/>
          <p:cNvSpPr txBox="1"/>
          <p:nvPr/>
        </p:nvSpPr>
        <p:spPr>
          <a:xfrm>
            <a:off x="7680960" y="3840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1"/>
          <p:cNvSpPr txBox="1"/>
          <p:nvPr/>
        </p:nvSpPr>
        <p:spPr>
          <a:xfrm>
            <a:off x="8321040" y="3803904"/>
            <a:ext cx="3291840" cy="365760"/>
          </a:xfrm>
          <a:prstGeom prst="rect">
            <a:avLst/>
          </a:prstGeom>
          <a:noFill/>
          <a:ln/>
        </p:spPr>
        <p:txBody>
          <a:bodyPr wrap="square" lIns="0" tIns="0" rIns="0" bIns="0" rtlCol="0" anchor="ctr"/>
          <a:lstStyle/>
          <a:p>
            <a:pPr indent="0" marL="0">
              <a:buNone/>
            </a:pPr>
            <a:r>
              <a:rPr lang="en-US" sz="1600" b="1" dirty="0">
                <a:solidFill>
                  <a:schemeClr val="tx1"/>
                </a:solidFill>
              </a:rPr>
              <a:t>Same V*</a:t>
            </a:r>
            <a:endParaRPr lang="en-US" sz="1600" dirty="0"/>
          </a:p>
        </p:txBody>
      </p:sp>
      <p:sp>
        <p:nvSpPr>
          <p:cNvPr id="15" name="Text 12"/>
          <p:cNvSpPr txBox="1"/>
          <p:nvPr/>
        </p:nvSpPr>
        <p:spPr>
          <a:xfrm>
            <a:off x="8321040" y="4169664"/>
            <a:ext cx="3291840" cy="777240"/>
          </a:xfrm>
          <a:prstGeom prst="rect">
            <a:avLst/>
          </a:prstGeom>
          <a:noFill/>
          <a:ln/>
        </p:spPr>
        <p:txBody>
          <a:bodyPr wrap="square" lIns="0" tIns="0" rIns="0" bIns="0" rtlCol="0" anchor="t"/>
          <a:lstStyle/>
          <a:p>
            <a:pPr indent="0" marL="0">
              <a:buNone/>
            </a:pPr>
            <a:r>
              <a:rPr lang="en-US" sz="1300" dirty="0">
                <a:solidFill>
                  <a:schemeClr val="tx2"/>
                </a:solidFill>
              </a:rPr>
              <a:t>a unit test checks both agree; agents never see P</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56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1"/>
                </a:solidFill>
              </a:rPr>
              <a:t>Convergence conditions in the slippery grid</a:t>
            </a:r>
            <a:endParaRPr lang="en-US" sz="3200" dirty="0"/>
          </a:p>
        </p:txBody>
      </p:sp>
      <p:pic>
        <p:nvPicPr>
          <p:cNvPr id="3" name="Image 0" descr="Default schedule vs GLIE plus Robbins-Monro: share of seeds exactly optimal, regret and error over episodes">    </p:cNvPr>
          <p:cNvPicPr>
            <a:picLocks noChangeAspect="1"/>
          </p:cNvPicPr>
          <p:nvPr/>
        </p:nvPicPr>
        <p:blipFill>
          <a:blip r:embed="rId1"/>
          <a:stretch>
            <a:fillRect/>
          </a:stretch>
        </p:blipFill>
        <p:spPr>
          <a:xfrm>
            <a:off x="548640" y="1463040"/>
            <a:ext cx="11064240" cy="3048000"/>
          </a:xfrm>
          <a:prstGeom prst="rect">
            <a:avLst/>
          </a:prstGeom>
        </p:spPr>
      </p:pic>
      <p:sp>
        <p:nvSpPr>
          <p:cNvPr id="4" name="Text 1"/>
          <p:cNvSpPr txBox="1"/>
          <p:nvPr/>
        </p:nvSpPr>
        <p:spPr>
          <a:xfrm>
            <a:off x="548640" y="4800600"/>
            <a:ext cx="11064240" cy="731520"/>
          </a:xfrm>
          <a:prstGeom prst="rect">
            <a:avLst/>
          </a:prstGeom>
          <a:noFill/>
          <a:ln/>
        </p:spPr>
        <p:txBody>
          <a:bodyPr wrap="square" lIns="0" tIns="0" rIns="0" bIns="0" rtlCol="0" anchor="t"/>
          <a:lstStyle/>
          <a:p>
            <a:pPr indent="0" marL="0">
              <a:buNone/>
            </a:pPr>
            <a:r>
              <a:rPr lang="en-US" sz="1500" dirty="0">
                <a:solidFill>
                  <a:schemeClr val="tx2"/>
                </a:solidFill>
              </a:rPr>
              <a:t>Dashed: default (ε ≥ 0.05, constant α). Solid: ε → 0 and α = 0.5 / (1 + 0.005·N). Both reach 20/20 seeds; SARSA needs about 15× more episodes than Q-learning.</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56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1"/>
                </a:solidFill>
              </a:rPr>
              <a:t>Monte Carlo vs TD, and how much to explore</a:t>
            </a:r>
            <a:endParaRPr lang="en-US" sz="3200" dirty="0"/>
          </a:p>
        </p:txBody>
      </p:sp>
      <p:pic>
        <p:nvPicPr>
          <p:cNvPr id="3" name="Image 0" descr="Bias and variance of Q(s0,a*) for Monte Carlo, SARSA and Q-learning">    </p:cNvPr>
          <p:cNvPicPr>
            <a:picLocks noChangeAspect="1"/>
          </p:cNvPicPr>
          <p:nvPr/>
        </p:nvPicPr>
        <p:blipFill>
          <a:blip r:embed="rId1"/>
          <a:stretch>
            <a:fillRect/>
          </a:stretch>
        </p:blipFill>
        <p:spPr>
          <a:xfrm>
            <a:off x="548640" y="1234440"/>
            <a:ext cx="5486400" cy="1847273"/>
          </a:xfrm>
          <a:prstGeom prst="rect">
            <a:avLst/>
          </a:prstGeom>
        </p:spPr>
      </p:pic>
      <p:pic>
        <p:nvPicPr>
          <p:cNvPr id="4" name="Image 1" descr="Learning-rate sensitivity of SARSA and Q-learning">    </p:cNvPr>
          <p:cNvPicPr>
            <a:picLocks noChangeAspect="1"/>
          </p:cNvPicPr>
          <p:nvPr/>
        </p:nvPicPr>
        <p:blipFill>
          <a:blip r:embed="rId2"/>
          <a:stretch>
            <a:fillRect/>
          </a:stretch>
        </p:blipFill>
        <p:spPr>
          <a:xfrm>
            <a:off x="6172200" y="1234440"/>
            <a:ext cx="5486400" cy="1847273"/>
          </a:xfrm>
          <a:prstGeom prst="rect">
            <a:avLst/>
          </a:prstGeom>
        </p:spPr>
      </p:pic>
      <p:pic>
        <p:nvPicPr>
          <p:cNvPr id="5" name="Image 2" descr="Q-learning with different exploration schedules">    </p:cNvPr>
          <p:cNvPicPr>
            <a:picLocks noChangeAspect="1"/>
          </p:cNvPicPr>
          <p:nvPr/>
        </p:nvPicPr>
        <p:blipFill>
          <a:blip r:embed="rId3"/>
          <a:stretch>
            <a:fillRect/>
          </a:stretch>
        </p:blipFill>
        <p:spPr>
          <a:xfrm>
            <a:off x="1097280" y="3246120"/>
            <a:ext cx="10058400" cy="2711159"/>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56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1"/>
                </a:solidFill>
              </a:rPr>
              <a:t>Optuna: Pareto fronts and what matters</a:t>
            </a:r>
            <a:endParaRPr lang="en-US" sz="3200" dirty="0"/>
          </a:p>
        </p:txBody>
      </p:sp>
      <p:pic>
        <p:nvPicPr>
          <p:cNvPr id="3" name="Image 0" descr="Every Optuna trial on the speed and exactness plane, with Pareto front, default and chosen configuration">    </p:cNvPr>
          <p:cNvPicPr>
            <a:picLocks noChangeAspect="1"/>
          </p:cNvPicPr>
          <p:nvPr/>
        </p:nvPicPr>
        <p:blipFill>
          <a:blip r:embed="rId1"/>
          <a:stretch>
            <a:fillRect/>
          </a:stretch>
        </p:blipFill>
        <p:spPr>
          <a:xfrm>
            <a:off x="1051560" y="1143000"/>
            <a:ext cx="10058400" cy="3287059"/>
          </a:xfrm>
          <a:prstGeom prst="rect">
            <a:avLst/>
          </a:prstGeom>
        </p:spPr>
      </p:pic>
      <p:pic>
        <p:nvPicPr>
          <p:cNvPr id="4" name="Image 1" descr="Parameter importance per algorithm and environment">    </p:cNvPr>
          <p:cNvPicPr>
            <a:picLocks noChangeAspect="1"/>
          </p:cNvPicPr>
          <p:nvPr/>
        </p:nvPicPr>
        <p:blipFill>
          <a:blip r:embed="rId2"/>
          <a:stretch>
            <a:fillRect/>
          </a:stretch>
        </p:blipFill>
        <p:spPr>
          <a:xfrm>
            <a:off x="548640" y="4526280"/>
            <a:ext cx="4023360" cy="1669444"/>
          </a:xfrm>
          <a:prstGeom prst="rect">
            <a:avLst/>
          </a:prstGeom>
        </p:spPr>
      </p:pic>
      <p:sp>
        <p:nvSpPr>
          <p:cNvPr id="5" name="Text 1"/>
          <p:cNvSpPr txBox="1"/>
          <p:nvPr/>
        </p:nvSpPr>
        <p:spPr>
          <a:xfrm>
            <a:off x="4937760" y="4709160"/>
            <a:ext cx="6675120" cy="1097280"/>
          </a:xfrm>
          <a:prstGeom prst="rect">
            <a:avLst/>
          </a:prstGeom>
          <a:noFill/>
          <a:ln/>
        </p:spPr>
        <p:txBody>
          <a:bodyPr wrap="square" lIns="0" tIns="0" rIns="0" bIns="0" rtlCol="0" anchor="t"/>
          <a:lstStyle/>
          <a:p>
            <a:pPr indent="0" marL="0">
              <a:buNone/>
            </a:pPr>
            <a:r>
              <a:rPr lang="en-US" sz="1500" dirty="0">
                <a:solidFill>
                  <a:schemeClr val="tx2"/>
                </a:solidFill>
              </a:rPr>
              <a:t>Two goals at once: learn fast and end exactly optimal. We keep the Pareto front and pick the point with the smallest sum. Trial 0 is always the default (square).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568"/>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Gridworld">
      <a:dk1>
        <a:srgbClr val="0F1B2D"/>
      </a:dk1>
      <a:lt1>
        <a:srgbClr val="FFFFFF"/>
      </a:lt1>
      <a:dk2>
        <a:srgbClr val="4A5568"/>
      </a:dk2>
      <a:lt2>
        <a:srgbClr val="EEF2F6"/>
      </a:lt2>
      <a:accent1>
        <a:srgbClr val="D55E00"/>
      </a:accent1>
      <a:accent2>
        <a:srgbClr val="0072B2"/>
      </a:accent2>
      <a:accent3>
        <a:srgbClr val="009E73"/>
      </a:accent3>
      <a:accent4>
        <a:srgbClr val="E69F00"/>
      </a:accent4>
      <a:accent5>
        <a:srgbClr val="56B4E9"/>
      </a:accent5>
      <a:accent6>
        <a:srgbClr val="7A7A7A"/>
      </a:accent6>
      <a:hlink>
        <a:srgbClr val="0072B2"/>
      </a:hlink>
      <a:folHlink>
        <a:srgbClr val="56B4E9"/>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Tabular Reinforcement Learning</dc:title>
  <dc:subject>PptxGenJS Presentation</dc:subject>
  <dc:creator>Igor Ruiz, Andoni Garrido</dc:creator>
  <cp:lastModifiedBy>Igor Ruiz, Andoni Garrido</cp:lastModifiedBy>
  <cp:revision>1</cp:revision>
  <dcterms:created xsi:type="dcterms:W3CDTF">2026-10-07T16:56:29Z</dcterms:created>
  <dcterms:modified xsi:type="dcterms:W3CDTF">2026-10-07T16:56:29Z</dcterms:modified>
</cp:coreProperties>
</file>